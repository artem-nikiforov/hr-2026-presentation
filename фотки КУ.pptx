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88" r:id="rId2"/>
    <p:sldId id="284" r:id="rId3"/>
    <p:sldId id="285" r:id="rId4"/>
    <p:sldId id="287" r:id="rId5"/>
    <p:sldId id="286" r:id="rId6"/>
    <p:sldId id="283" r:id="rId7"/>
    <p:sldId id="269" r:id="rId8"/>
    <p:sldId id="29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306" r:id="rId19"/>
    <p:sldId id="311" r:id="rId20"/>
    <p:sldId id="308" r:id="rId21"/>
    <p:sldId id="305" r:id="rId22"/>
    <p:sldId id="304" r:id="rId23"/>
    <p:sldId id="303" r:id="rId24"/>
    <p:sldId id="302" r:id="rId25"/>
    <p:sldId id="301" r:id="rId26"/>
    <p:sldId id="300" r:id="rId27"/>
    <p:sldId id="299" r:id="rId28"/>
    <p:sldId id="307" r:id="rId29"/>
    <p:sldId id="309" r:id="rId30"/>
    <p:sldId id="310" r:id="rId3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24D292-692C-4E1A-9382-95552A264B3C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4B267D-D094-43A9-85B4-2870CC4285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9705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Маша,</a:t>
            </a:r>
            <a:r>
              <a:rPr lang="ru-RU" dirty="0"/>
              <a:t> хочу сказать тебе огромное спасибо за твой вклад в проекты и задачи Корпоративного университета в 2025 году!</a:t>
            </a:r>
          </a:p>
          <a:p>
            <a:r>
              <a:rPr lang="ru-RU" dirty="0"/>
              <a:t>Твоя ориентацию на результат, высокий уровень ответственности за продукт и за ЦА помогли нам достичь многих целей, а быстрое освоение новых инструментов продуктовой работы позволили нам создать шаблоны и инструкций для многих задач команды.</a:t>
            </a:r>
          </a:p>
          <a:p>
            <a:r>
              <a:rPr lang="ru-RU" dirty="0"/>
              <a:t>В этом году ты:</a:t>
            </a:r>
          </a:p>
          <a:p>
            <a:pPr lvl="0"/>
            <a:r>
              <a:rPr lang="ru-RU" dirty="0"/>
              <a:t>Успешно организовала запуск 3(!) новых программ обучения для своей ЦА: Обучение для НУ, Треки Основы и Повар на иностранных языках.</a:t>
            </a:r>
          </a:p>
          <a:p>
            <a:pPr lvl="0"/>
            <a:r>
              <a:rPr lang="ru-RU" dirty="0"/>
              <a:t>Сформировала первые полноценные портреты ЦА и создала прекрасный шаблон для коллег, которым мы успешно пользуемся уже полгода.</a:t>
            </a:r>
          </a:p>
          <a:p>
            <a:pPr lvl="0"/>
            <a:r>
              <a:rPr lang="ru-RU" dirty="0"/>
              <a:t>Стала </a:t>
            </a:r>
            <a:r>
              <a:rPr lang="ru-RU" dirty="0" err="1"/>
              <a:t>амбассадором</a:t>
            </a:r>
            <a:r>
              <a:rPr lang="ru-RU" dirty="0"/>
              <a:t> </a:t>
            </a:r>
            <a:r>
              <a:rPr lang="en-US" dirty="0"/>
              <a:t>Tempo </a:t>
            </a:r>
            <a:r>
              <a:rPr lang="ru-RU" dirty="0"/>
              <a:t>по команде и создала уверенную базу для аналитики нагрузки.</a:t>
            </a:r>
          </a:p>
          <a:p>
            <a:pPr lvl="0"/>
            <a:r>
              <a:rPr lang="ru-RU" dirty="0"/>
              <a:t>Запустила регулярные опросы для Руководителей ЦА, разработала процесс и опросник, которые позволяет снимать ОС и внедрять улучшения.</a:t>
            </a:r>
          </a:p>
          <a:p>
            <a:pPr lvl="0"/>
            <a:r>
              <a:rPr lang="ru-RU" dirty="0"/>
              <a:t>Успешно поддержала ОПС-проект по Адаптации ЧБР, разработала для ЦА памятки для разных путей </a:t>
            </a:r>
            <a:r>
              <a:rPr lang="en-US" dirty="0"/>
              <a:t>EJM</a:t>
            </a:r>
            <a:r>
              <a:rPr lang="ru-RU" dirty="0"/>
              <a:t>, которые успешно прошли пилот.</a:t>
            </a:r>
          </a:p>
          <a:p>
            <a:pPr lvl="0"/>
            <a:r>
              <a:rPr lang="ru-RU" dirty="0"/>
              <a:t>Лидировала процесс запуска обучения по новым продуктам для команд ресторанов</a:t>
            </a:r>
          </a:p>
          <a:p>
            <a:pPr lvl="0"/>
            <a:r>
              <a:rPr lang="ru-RU" dirty="0"/>
              <a:t>Организовала и провела два масштабных исследования ЦА</a:t>
            </a:r>
          </a:p>
          <a:p>
            <a:endParaRPr lang="ru-RU" dirty="0"/>
          </a:p>
          <a:p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Твой ответственный подход и профессионализм вдохновляют нас всех. Маша, за твой труд и высокую вовлеченность! 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C97131-AC8D-46FE-BD1E-923EAC6AFCEB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94950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Юля, хочу выразить тебе искреннюю благодарность за твой яркий и значимый вклад в проекты Корпоративного университета в 2025 году!</a:t>
            </a:r>
          </a:p>
          <a:p>
            <a:endParaRPr lang="ru-RU" dirty="0"/>
          </a:p>
          <a:p>
            <a:r>
              <a:rPr lang="ru-RU" dirty="0"/>
              <a:t>Твоя </a:t>
            </a:r>
            <a:r>
              <a:rPr lang="ru-RU" dirty="0" err="1"/>
              <a:t>суперактивная</a:t>
            </a:r>
            <a:r>
              <a:rPr lang="ru-RU" dirty="0"/>
              <a:t> адаптация, инициативная позиция и готовность брать на себя задачи с настроем «раз уж взялись — сделаем всё идеально» невероятно ценны для команды. Особенно хочется отметить твоё умение видеть возможности для оптимизации процессов, транслировать лучшие подходы и виртуозно справляться со срочными задачами уровня «вчера и звезда с неба» — благодаря этому мы двигаемся вперёд быстро и уверенно.</a:t>
            </a:r>
          </a:p>
          <a:p>
            <a:endParaRPr lang="ru-RU" dirty="0"/>
          </a:p>
          <a:p>
            <a:r>
              <a:rPr lang="ru-RU" dirty="0"/>
              <a:t>В этом году ты:</a:t>
            </a:r>
          </a:p>
          <a:p>
            <a:endParaRPr lang="ru-RU" dirty="0"/>
          </a:p>
          <a:p>
            <a:r>
              <a:rPr lang="ru-RU" dirty="0"/>
              <a:t>Полностью провела пилот ресертификации ТН — от разработки гипотез и механики до глубокой аналитики результатов, формирования выводов и </a:t>
            </a:r>
            <a:r>
              <a:rPr lang="ru-RU" dirty="0" err="1"/>
              <a:t>бэклога</a:t>
            </a:r>
            <a:r>
              <a:rPr lang="ru-RU" dirty="0"/>
              <a:t> доработок.</a:t>
            </a:r>
          </a:p>
          <a:p>
            <a:r>
              <a:rPr lang="ru-RU" dirty="0"/>
              <a:t>Собрала и технически приняла Трек ТН — разработала практические активности, сформировала логику активации и обеспечила качественную сборку и приёмку вместе с отделом автоматизации.</a:t>
            </a:r>
          </a:p>
          <a:p>
            <a:r>
              <a:rPr lang="ru-RU" dirty="0"/>
              <a:t>Активно погрузилась в новые продукты и форматы — быстро освоила тренерскую программу и готова была подхватывать задачи ещё до их полной передачи.</a:t>
            </a:r>
          </a:p>
          <a:p>
            <a:r>
              <a:rPr lang="ru-RU" dirty="0"/>
              <a:t>Стала драйвером оптимизации — предлагаешь улучшения не только в обучении, но и в смежных процессах, заряжая команду современными подходами.</a:t>
            </a:r>
          </a:p>
          <a:p>
            <a:r>
              <a:rPr lang="ru-RU" dirty="0"/>
              <a:t>Брала на себя срочные и сложные задачи — всегда готова помочь в моменте, обеспечивая надёжность и скорость в критичных ситуациях.</a:t>
            </a:r>
          </a:p>
          <a:p>
            <a:endParaRPr lang="ru-RU" dirty="0"/>
          </a:p>
          <a:p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Твоя энергия, внимательность к деталям и стремление делать не просто хорошо, а системно и с перспективой — это именно те качества, которые создают прочный фундамент для развития. 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C97131-AC8D-46FE-BD1E-923EAC6AFCEB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435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Тамара,</a:t>
            </a:r>
            <a:r>
              <a:rPr lang="ru-RU" dirty="0"/>
              <a:t> хочу выразить тебе искреннюю благодарность за твой значимый вклад в проекты Корпоративного университета в 2025 году!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Твой профессиональный, внимательный и гибкий подход к задачам, умение глубоко погружаться в детали и всегда фокусироваться на итоговом результате делают тебя надёжным партнёром и ценным членом команды. Особенно хочется отметить твою способность качественно реагировать на входящие изменения и «доводить до ума» даже самые сложные запросы, превращая их в успешные и востребованные решения.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В этом году ты:</a:t>
            </a:r>
          </a:p>
          <a:p>
            <a:pPr lvl="0"/>
            <a:r>
              <a:rPr lang="ru-RU" dirty="0"/>
              <a:t>Разработала и провела два ключевых вебинара — для HRBP и для ОД — от планирования и брифинга экспертов до упаковки контента, проведения и анализа обратной связи, показав высочайший уровень организации и внимания к потребностям заказчика.</a:t>
            </a:r>
          </a:p>
          <a:p>
            <a:pPr lvl="0"/>
            <a:r>
              <a:rPr lang="ru-RU" dirty="0"/>
              <a:t>Была надёжной опорой в апробации проектов группы синхронного обучения — твоя включённость и готовность создавать инструменты для команды помогли укрепить наши внутренние процессы.</a:t>
            </a:r>
          </a:p>
          <a:p>
            <a:pPr lvl="0"/>
            <a:r>
              <a:rPr lang="ru-RU" dirty="0"/>
              <a:t>Сформировала бизнес-процесс и план-график для программы «Ввод в должность ТУ» — разработала гипотезы, инструменты исследования и коммуникационную кампанию, заложив основу для её успешного запуска.</a:t>
            </a:r>
          </a:p>
          <a:p>
            <a:pPr lvl="0"/>
            <a:r>
              <a:rPr lang="ru-RU" dirty="0"/>
              <a:t>Активно погрузилась в новую роль и приёмку продуктов: Треки </a:t>
            </a:r>
            <a:r>
              <a:rPr lang="ru-RU" dirty="0" err="1"/>
              <a:t>ЧиО</a:t>
            </a:r>
            <a:r>
              <a:rPr lang="ru-RU" dirty="0"/>
              <a:t>, Продукт, ДР.</a:t>
            </a:r>
          </a:p>
          <a:p>
            <a:r>
              <a:rPr lang="ru-RU" dirty="0"/>
              <a:t> </a:t>
            </a:r>
          </a:p>
          <a:p>
            <a:endParaRPr lang="ru-RU" dirty="0"/>
          </a:p>
          <a:p>
            <a:r>
              <a:rPr lang="ru-RU" dirty="0"/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Твой труд, ответственность и умение работать в команде, всегда сохраняя фокус на качестве и результате, не остаются незамеченными. Спасибо, Тамара, за твою надёжность, инициативность и за то, что с тобой даже самые многозадачные проекты проходят гладко, структурированно и с отличным финалом!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C97131-AC8D-46FE-BD1E-923EAC6AFCEB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691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Ирина</a:t>
            </a:r>
            <a:r>
              <a:rPr lang="ru-RU" dirty="0"/>
              <a:t>, хочу выразить тебе искреннюю благодарность за твой неоценимый вклад в проекты и задачи Корпоративного университета в 2025 году!</a:t>
            </a:r>
          </a:p>
          <a:p>
            <a:r>
              <a:rPr lang="ru-RU" dirty="0"/>
              <a:t>Твоя твёрдая хватка, ориентация на результат и невероятная партнёрская позиция стали настоящим драйвером успеха для ключевых программ. Ты не только управляешь процессами, но и постоянно задаёшь неудобные вопросы, выбиваешь ответы и страхуешь смежные процессы — это бесценно.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В этом году ты:</a:t>
            </a:r>
          </a:p>
          <a:p>
            <a:pPr lvl="0"/>
            <a:r>
              <a:rPr lang="ru-RU" dirty="0"/>
              <a:t>Успешно запустила программу «Ввод в должность Заместителя директора» на федеральном уровне, достигнув 90% завершения пилотного потока и обеспечив полный перечень согласованных мероприятий.</a:t>
            </a:r>
          </a:p>
          <a:p>
            <a:pPr lvl="0"/>
            <a:r>
              <a:rPr lang="ru-RU" dirty="0"/>
              <a:t>Разработала и внедрила паспорт продукта на примере продукт ЗД, включая продуктовую карту, метрики, портрет ЦА и </a:t>
            </a:r>
            <a:r>
              <a:rPr lang="ru-RU" dirty="0" err="1"/>
              <a:t>бэклог</a:t>
            </a:r>
            <a:endParaRPr lang="ru-RU" dirty="0"/>
          </a:p>
          <a:p>
            <a:pPr lvl="0"/>
            <a:r>
              <a:rPr lang="ru-RU" dirty="0"/>
              <a:t>Успешно стартовала в проект «Ввод в должность ТУ» — реализовала масштабное исследование ЦА, в кратчайшие сроки разработала бизнес-процесс и начала подготовку к запуску</a:t>
            </a:r>
          </a:p>
          <a:p>
            <a:pPr lvl="0"/>
            <a:r>
              <a:rPr lang="ru-RU" dirty="0"/>
              <a:t>Внедрила регулярный процесс аналитики количественных и качественных метрик, подготовила форму расчёта, описала его для отдела. </a:t>
            </a:r>
          </a:p>
          <a:p>
            <a:pPr lvl="0"/>
            <a:r>
              <a:rPr lang="ru-RU" dirty="0"/>
              <a:t>Провела большую и глубокую работу с метриками продукта и картой проектов для всей команды</a:t>
            </a:r>
          </a:p>
          <a:p>
            <a:endParaRPr lang="ru-RU" dirty="0"/>
          </a:p>
          <a:p>
            <a:r>
              <a:rPr lang="ru-RU" b="1" dirty="0"/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Твой профессионализм, готовность брать на себя сложные задачи, открытость к экспертизе и умение работать на опережение вдохновляют всю команду. Ирина, спасибо за твой труд, высокую вовлечённость и за то, что с тобой даже самые сложные проекты становятся успешными и управляемыми! 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C97131-AC8D-46FE-BD1E-923EAC6AFCEB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447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Настя,</a:t>
            </a:r>
            <a:r>
              <a:rPr lang="ru-RU" dirty="0"/>
              <a:t> хочу выразить тебе искреннюю благодарность за твой значимый вклад в проекты и задачи Корпоративного университета в 2025 году!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Твоя наставническая позиция, невероятная вовлечённость и целеустремлённость стали надёжной опорой для команды и ключевых продуктов. Особенно хочется отметить твою способность оперативно забирать срочные задачи от заказчиков и виртуозно их решать — благодаря твоей быстроте реагирования, поиску альтернатив и партнёрской позиции даже самые сложные вызовы превращаются в успешные результаты.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В этом году ты:</a:t>
            </a:r>
          </a:p>
          <a:p>
            <a:pPr lvl="0"/>
            <a:r>
              <a:rPr lang="ru-RU" dirty="0"/>
              <a:t>Организовала и запустила треки ДОС+ (</a:t>
            </a:r>
            <a:r>
              <a:rPr lang="ru-RU" dirty="0" err="1"/>
              <a:t>ЧиО</a:t>
            </a:r>
            <a:r>
              <a:rPr lang="ru-RU" dirty="0"/>
              <a:t> и Продукт): от исследований и проектирования до пилота и федерального запуска, включая полный цикл коммуникаций и обучения наставников.</a:t>
            </a:r>
          </a:p>
          <a:p>
            <a:pPr lvl="0"/>
            <a:r>
              <a:rPr lang="ru-RU" dirty="0"/>
              <a:t>Систематизировала учебные материалы: организовала консолидацию источников, категоризацию в </a:t>
            </a:r>
            <a:r>
              <a:rPr lang="ru-RU" dirty="0" err="1"/>
              <a:t>КингГуру</a:t>
            </a:r>
            <a:r>
              <a:rPr lang="ru-RU" dirty="0"/>
              <a:t> и обучение команд — огромная работа, которая структурировала наши ресурсы.</a:t>
            </a:r>
          </a:p>
          <a:p>
            <a:pPr lvl="0"/>
            <a:r>
              <a:rPr lang="ru-RU" dirty="0"/>
              <a:t>Выступила кризис-менеджером в сложных ситуациях, обеспечивая поддержку учеников и наставников, оперативно решая технические и организационные вопросы.</a:t>
            </a:r>
          </a:p>
          <a:p>
            <a:pPr lvl="0"/>
            <a:r>
              <a:rPr lang="ru-RU" dirty="0"/>
              <a:t>Взяла на себя срочные ОПС-задачи и доработки от заказчиков, находя быстрые и эффективные решения, сохраняя высокий уровень заботы о ЦА и партнёрских отношений с функциями.</a:t>
            </a:r>
          </a:p>
          <a:p>
            <a:r>
              <a:rPr lang="ru-RU" dirty="0"/>
              <a:t> </a:t>
            </a:r>
          </a:p>
          <a:p>
            <a:endParaRPr lang="ru-RU" dirty="0"/>
          </a:p>
          <a:p>
            <a:r>
              <a:rPr lang="ru-RU" dirty="0"/>
              <a:t> </a:t>
            </a:r>
          </a:p>
          <a:p>
            <a:endParaRPr lang="ru-RU" dirty="0"/>
          </a:p>
          <a:p>
            <a:r>
              <a:rPr lang="ru-RU" dirty="0"/>
              <a:t>Твой профессионализм, вовлеченность и готовность брать на себя ответственность делают тебя настоящим двигателем процессов. Спасибо, Настя, за твой неугасимый энтузиазм, грамотную работу с заказчиком и за то, что с тобой даже самые внезапные и срочные проекты идут уверенно и с заботой о результате!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C97131-AC8D-46FE-BD1E-923EAC6AFCEB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2828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Лида,</a:t>
            </a:r>
            <a:r>
              <a:rPr lang="ru-RU" dirty="0"/>
              <a:t> хочу выразить тебе огромную благодарность за твой неоценимый вклад в проекты и развитие Корпоративного университета в 2025 году!</a:t>
            </a:r>
          </a:p>
          <a:p>
            <a:r>
              <a:rPr lang="ru-RU" dirty="0"/>
              <a:t> </a:t>
            </a:r>
          </a:p>
          <a:p>
            <a:pPr lvl="0"/>
            <a:r>
              <a:rPr lang="ru-RU" dirty="0"/>
              <a:t>Успешно запустила и вывела на системный уровень процесс ресертификации АУП — от апробации вопросов и коммуникационной кампании до анализа метрик и формирования </a:t>
            </a:r>
            <a:r>
              <a:rPr lang="ru-RU" dirty="0" err="1"/>
              <a:t>бэклога</a:t>
            </a:r>
            <a:r>
              <a:rPr lang="ru-RU" dirty="0"/>
              <a:t>.</a:t>
            </a:r>
          </a:p>
          <a:p>
            <a:pPr lvl="0"/>
            <a:r>
              <a:rPr lang="ru-RU" dirty="0"/>
              <a:t>Провела глубокое исследование и доработку программы «Ввод в должность ДР» — от гипотез и метрик до сопоставления учебных целей с SJM и моделью компетенций, что значительно повысило её эффективность.</a:t>
            </a:r>
          </a:p>
          <a:p>
            <a:pPr lvl="0"/>
            <a:r>
              <a:rPr lang="ru-RU" dirty="0"/>
              <a:t>Реализовала масштабный проект «Ресертификация всех должностей» — от глобальной переработки ТЗ на автоматизацию функционала и отчетности, планирования и пилота ТН до поддержки пользователей, анализа корневых причин и формирования стратегии.</a:t>
            </a:r>
          </a:p>
          <a:p>
            <a:pPr lvl="0"/>
            <a:r>
              <a:rPr lang="ru-RU" dirty="0"/>
              <a:t>Выступила наставником и экспертом для команды — не только в рамках проектов, но и в вопросах методологии, управления и профессионального развития, всегда готовая поддержать и направить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Проявила себя как уверенный лидер — спокойно и взвешенно вела сложные переговоры, находила компромиссы с заказчиками и брала на себя ответственность за стратегические решения</a:t>
            </a:r>
          </a:p>
          <a:p>
            <a:endParaRPr lang="ru-RU" dirty="0"/>
          </a:p>
          <a:p>
            <a:r>
              <a:rPr lang="ru-RU" dirty="0"/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Твоя глубокая экспертиза, системный подход, твёрдая рука на пульсе процессов и редкое умение видеть на шаг вперёд стали настоящим фундаментом для ключевых инициатив. Ты не просто управляешь проектами — ты выстраиваешь целостные системы, щедро делишься знаниями с командой и всегда  стремишься к профессиональному росту, заряжая своим примером всех вокруг.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ru-RU" dirty="0"/>
            </a:br>
            <a:r>
              <a:rPr lang="ru-RU" dirty="0"/>
              <a:t>Твой профессионализм, ответственность и стремление делать не просто задачи, а выстраивать работающие системы — это то, что делает нашу команду сильнее. Спасибо, Лида, за твой труд, открытость, готовность делиться экспертизой и за то, что с тобой даже самые сложные проекты обретают ясность, структуру и долгосрочную перспективу!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C97131-AC8D-46FE-BD1E-923EAC6AFCEB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27678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Лиза,</a:t>
            </a:r>
            <a:r>
              <a:rPr lang="ru-RU" dirty="0"/>
              <a:t> хочу выразить тебе огромную благодарность за твой выдающийся вклад в проекты и развитие Корпоративного университета в 2025 году!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Твоё умение глубоко анализировать процессы, выстраивать эффективные системы и вести несколько сложных проектов одновременно с непоколебимым качеством и ясным видением будущего — это настоящая суперсила нашей команды. Ты не просто выполняешь задачи, ты создаешь работающие механизмы, которыми щедро делишься с коллегами, и всегда смотришь на три шага вперёд.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В этом году ты:</a:t>
            </a:r>
          </a:p>
          <a:p>
            <a:r>
              <a:rPr lang="ru-RU" dirty="0"/>
              <a:t> </a:t>
            </a:r>
          </a:p>
          <a:p>
            <a:pPr lvl="0"/>
            <a:r>
              <a:rPr lang="ru-RU" dirty="0"/>
              <a:t>Разработала и внедрила ключевые метрики Группы синхронного обучения — провела глубокое исследование, апробации и создала полноценный регламент работы, что заложило основу для оценки эффективности тренингов.</a:t>
            </a:r>
          </a:p>
          <a:p>
            <a:pPr lvl="0"/>
            <a:r>
              <a:rPr lang="ru-RU" dirty="0"/>
              <a:t>Организовала и обеспечила масштабный переход синхронных мероприятий на платформу </a:t>
            </a:r>
            <a:r>
              <a:rPr lang="ru-RU" dirty="0" err="1"/>
              <a:t>Granatum</a:t>
            </a:r>
            <a:r>
              <a:rPr lang="ru-RU" dirty="0"/>
              <a:t> — от адаптации контента и обучения команды до тестирования и коммуникационной кампании, что кардинально обновило наш инструментарий.</a:t>
            </a:r>
          </a:p>
          <a:p>
            <a:pPr lvl="0"/>
            <a:r>
              <a:rPr lang="ru-RU" dirty="0"/>
              <a:t>Организовала работу по созданию двух </a:t>
            </a:r>
            <a:r>
              <a:rPr lang="ru-RU" dirty="0" err="1"/>
              <a:t>высокооценённых</a:t>
            </a:r>
            <a:r>
              <a:rPr lang="ru-RU" dirty="0"/>
              <a:t> вебинаров для HRBP и ОД — от </a:t>
            </a:r>
            <a:r>
              <a:rPr lang="ru-RU" dirty="0" err="1"/>
              <a:t>брифования</a:t>
            </a:r>
            <a:r>
              <a:rPr lang="ru-RU" dirty="0"/>
              <a:t> экспертов и упаковки контента до сбора обратной связи, оставив яркий след в развитии наших партнёров</a:t>
            </a:r>
          </a:p>
          <a:p>
            <a:pPr lvl="0"/>
            <a:r>
              <a:rPr lang="ru-RU" dirty="0"/>
              <a:t>Выступила драйвером процесса «Оценка — Обучение — Перевод» — подготовила ТЗ, отладила отчётность, провела обучение для ОПС HR и обеспечила плавный переход для всех участников.</a:t>
            </a:r>
          </a:p>
          <a:p>
            <a:pPr lvl="0"/>
            <a:r>
              <a:rPr lang="ru-RU" dirty="0"/>
              <a:t>Создала и запустила функционал календаря мероприятий в </a:t>
            </a:r>
            <a:r>
              <a:rPr lang="ru-RU" dirty="0" err="1"/>
              <a:t>КингГуру</a:t>
            </a:r>
            <a:r>
              <a:rPr lang="ru-RU" dirty="0"/>
              <a:t> — реализовала долгожданный инструмент, который систематизировал работу с ЦА и упростил планирование.</a:t>
            </a:r>
          </a:p>
          <a:p>
            <a:pPr lvl="0"/>
            <a:r>
              <a:rPr lang="ru-RU" dirty="0"/>
              <a:t>Взяла на себя лидирование в исследовании и переработке ключевых программ — таких как Наставничество и Тренинг для тренеров, демонстрируя стратегический подход и готовность брать на себя масштабные вызовы.</a:t>
            </a:r>
          </a:p>
          <a:p>
            <a:pPr lvl="0"/>
            <a:r>
              <a:rPr lang="ru-RU" dirty="0"/>
              <a:t>Проявила себя как надёжный кризис-менеджер и партнёр — оперативно подключалась к срочным задачам, поддерживала смежные процессы и всегда была готова предложить решение даже в самых сложных ситуациях.</a:t>
            </a:r>
          </a:p>
          <a:p>
            <a:r>
              <a:rPr lang="ru-RU" dirty="0"/>
              <a:t> </a:t>
            </a:r>
          </a:p>
          <a:p>
            <a:endParaRPr lang="ru-RU" dirty="0"/>
          </a:p>
          <a:p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Твой профессионализм, системность, внимание к деталям и способность вести проекты от идеи до блестящей реализации вдохновляют всю команду. Спасибо, Лиза, за твой неутомимый труд, за то, что ты поднимаешь планку качества, и за то, что с тобой даже самые амбициозные изменения проходят гладко, структурированно и с уверенным взглядом в будущее!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C97131-AC8D-46FE-BD1E-923EAC6AFCEB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09981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Вика,</a:t>
            </a:r>
            <a:r>
              <a:rPr lang="ru-RU" dirty="0"/>
              <a:t> хочу сказать тебе огромное спасибо за твой вклад в проекты и задачи Корпоративного университета в 2025 году!</a:t>
            </a:r>
          </a:p>
          <a:p>
            <a:r>
              <a:rPr lang="ru-RU" dirty="0"/>
              <a:t>Твоя настойчивость и упорство помогли нам достичь многих целей, а стремление к росту и развитию, а также активное использование ИИ в работе, сделали тебя настоящим экспертом.</a:t>
            </a:r>
          </a:p>
          <a:p>
            <a:r>
              <a:rPr lang="ru-RU" dirty="0"/>
              <a:t>В этом году ты:</a:t>
            </a:r>
          </a:p>
          <a:p>
            <a:pPr lvl="0"/>
            <a:r>
              <a:rPr lang="ru-RU" dirty="0"/>
              <a:t>Создала эффективные инструменты для замера метрик синхронных мероприятий – стандартизировала анкету ОС после тренингов и создала форму по замеру эффективности проектной деятельности, которыми теперь пользуется вся команда.</a:t>
            </a:r>
          </a:p>
          <a:p>
            <a:pPr lvl="0"/>
            <a:r>
              <a:rPr lang="ru-RU" dirty="0"/>
              <a:t>Внесла важный вклад в разработку и проведение вебинара по Обучению и Адаптации для HRBP/ОД.</a:t>
            </a:r>
          </a:p>
          <a:p>
            <a:pPr lvl="0"/>
            <a:r>
              <a:rPr lang="ru-RU" dirty="0"/>
              <a:t>Приняла участие в исследовании портрета ЦА тренеров-наставников и начала запуск проекта "Наставничество".</a:t>
            </a:r>
          </a:p>
          <a:p>
            <a:pPr lvl="0"/>
            <a:r>
              <a:rPr lang="ru-RU" dirty="0"/>
              <a:t>Отлично справилась с этапом "Исследование" в проекте "Наставничество", разработав гипотезы, </a:t>
            </a:r>
            <a:r>
              <a:rPr lang="ru-RU" dirty="0" err="1"/>
              <a:t>гайд</a:t>
            </a:r>
            <a:r>
              <a:rPr lang="ru-RU" dirty="0"/>
              <a:t> для проведения интервью и благодаря своим навыкам работы с ИИ, очень помогла команде в обработке результатов. </a:t>
            </a:r>
          </a:p>
          <a:p>
            <a:pPr lvl="0"/>
            <a:r>
              <a:rPr lang="ru-RU" dirty="0"/>
              <a:t>И конечно же ты ежемесячно показываешь стабильно высокие результаты по своевременности обучения ЦА в регионах</a:t>
            </a:r>
          </a:p>
          <a:p>
            <a:endParaRPr lang="ru-RU" dirty="0"/>
          </a:p>
          <a:p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Твой профессионализм и стремление к совершенству вдохновляют нас всех. Спасибо, Вика, за твой труд и высокую вовлеченность!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C97131-AC8D-46FE-BD1E-923EAC6AFCEB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47872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ru-RU" b="1" dirty="0"/>
              <a:t>Таня</a:t>
            </a:r>
            <a:r>
              <a:rPr lang="ru-RU" dirty="0"/>
              <a:t>, хочу выразить тебе искреннюю благодарность за твой вклад в проекты и задачи Корпоративного университета в 2025 году!</a:t>
            </a:r>
          </a:p>
          <a:p>
            <a:pPr fontAlgn="base"/>
            <a:r>
              <a:rPr lang="ru-RU" dirty="0"/>
              <a:t>Твоя погруженность в детали и процессы, широкое видение задач и высокая вовлеченность в работу команды помогли нам достичь многих целей и сделать нашу работу более эффективной.</a:t>
            </a:r>
          </a:p>
          <a:p>
            <a:pPr fontAlgn="base"/>
            <a:r>
              <a:rPr lang="ru-RU" dirty="0"/>
              <a:t>В этом году ты:</a:t>
            </a:r>
          </a:p>
          <a:p>
            <a:pPr lvl="0" fontAlgn="base"/>
            <a:r>
              <a:rPr lang="ru-RU" dirty="0"/>
              <a:t>Организовала запуск 2-го потока обучения сотрудников по программе «Ввод в должность ДР», провела исследование по гипотезам и метрикам программы, определила </a:t>
            </a:r>
            <a:r>
              <a:rPr lang="ru-RU" dirty="0" err="1"/>
              <a:t>бэклог</a:t>
            </a:r>
            <a:r>
              <a:rPr lang="ru-RU" dirty="0"/>
              <a:t> доработок.</a:t>
            </a:r>
          </a:p>
          <a:p>
            <a:pPr lvl="0" fontAlgn="base"/>
            <a:r>
              <a:rPr lang="ru-RU" dirty="0"/>
              <a:t>Провела дополнительное исследование по эффективности программы "Ввод в должность ДР" согласно учебным целям, модели компетенций и SJM.</a:t>
            </a:r>
          </a:p>
          <a:p>
            <a:pPr lvl="0" fontAlgn="base"/>
            <a:r>
              <a:rPr lang="ru-RU" dirty="0"/>
              <a:t>Обеспечила доработку продукта "Ввод в должность ДР" согласно </a:t>
            </a:r>
            <a:r>
              <a:rPr lang="ru-RU" dirty="0" err="1"/>
              <a:t>бэклогу</a:t>
            </a:r>
            <a:r>
              <a:rPr lang="ru-RU" dirty="0"/>
              <a:t>.</a:t>
            </a:r>
          </a:p>
          <a:p>
            <a:pPr lvl="0" fontAlgn="base"/>
            <a:r>
              <a:rPr lang="ru-RU" dirty="0"/>
              <a:t>Разработала и реализовала необходимые артефакты для улучшения программы обучения "Ввод в должность ДР".</a:t>
            </a:r>
          </a:p>
          <a:p>
            <a:pPr lvl="0" fontAlgn="base"/>
            <a:r>
              <a:rPr lang="ru-RU" dirty="0"/>
              <a:t>Запустила разработку синхронного мероприятия по работе с показателями ресторана.</a:t>
            </a:r>
          </a:p>
          <a:p>
            <a:pPr lvl="0" fontAlgn="base"/>
            <a:r>
              <a:rPr lang="ru-RU" dirty="0"/>
              <a:t>Поддерживаешь стабильное выполнение результатов по своевременности обучения ЦА в регионах.</a:t>
            </a:r>
          </a:p>
          <a:p>
            <a:pPr fontAlgn="base"/>
            <a:endParaRPr lang="ru-RU" dirty="0"/>
          </a:p>
          <a:p>
            <a:pPr fontAlgn="base"/>
            <a:endParaRPr lang="ru-RU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Твой профессионализм и готовность помочь делают тебя ценным членом нашей команды. Спасибо, Таня, за твой труд и высокую вовлеченность!</a:t>
            </a:r>
          </a:p>
          <a:p>
            <a:pPr fontAlgn="base"/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C97131-AC8D-46FE-BD1E-923EAC6AFCEB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11116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ru-RU" b="1" dirty="0"/>
              <a:t>Тина,</a:t>
            </a:r>
            <a:r>
              <a:rPr lang="ru-RU" dirty="0"/>
              <a:t> хочу выразить тебе искреннюю благодарность за твой вклад в проекты и задачи Корпоративного университета в 2025 году!</a:t>
            </a:r>
          </a:p>
          <a:p>
            <a:pPr fontAlgn="base"/>
            <a:r>
              <a:rPr lang="ru-RU" dirty="0"/>
              <a:t>Твоя "любовь террором", эффективная коммуникация, креативность и ответственность помогли нам достичь многих целей и сделать нашу работу более эффективной.</a:t>
            </a:r>
          </a:p>
          <a:p>
            <a:pPr fontAlgn="base"/>
            <a:r>
              <a:rPr lang="ru-RU" dirty="0"/>
              <a:t>В этом году ты:</a:t>
            </a:r>
          </a:p>
          <a:p>
            <a:pPr lvl="0" fontAlgn="base"/>
            <a:r>
              <a:rPr lang="ru-RU" dirty="0"/>
              <a:t>Запустила совместно с проектной командой процесс ресертификации АУП.</a:t>
            </a:r>
          </a:p>
          <a:p>
            <a:pPr lvl="0" fontAlgn="base"/>
            <a:r>
              <a:rPr lang="ru-RU" dirty="0"/>
              <a:t>Приняла участие в исследовании процесса ресертификации и запуске персонального обучения на </a:t>
            </a:r>
            <a:r>
              <a:rPr lang="ru-RU" dirty="0" err="1"/>
              <a:t>КингГуру</a:t>
            </a:r>
            <a:r>
              <a:rPr lang="ru-RU" dirty="0"/>
              <a:t>.</a:t>
            </a:r>
          </a:p>
          <a:p>
            <a:pPr lvl="0" fontAlgn="base"/>
            <a:r>
              <a:rPr lang="ru-RU" dirty="0"/>
              <a:t>Реализовала мероприятия по этапам "Планирование и проектирование", "Реализация" проекта «Ресертификация» всех должностей ноябрь 2025".</a:t>
            </a:r>
          </a:p>
          <a:p>
            <a:pPr lvl="0" fontAlgn="base"/>
            <a:r>
              <a:rPr lang="ru-RU" dirty="0"/>
              <a:t>Разработала концепцию вовлечения ТН в процесс ресертификации.</a:t>
            </a:r>
          </a:p>
          <a:p>
            <a:pPr lvl="0" fontAlgn="base"/>
            <a:r>
              <a:rPr lang="ru-RU" dirty="0"/>
              <a:t>Взяла на себя роль "менеджера по кутежу", что положительно сказывается на вовлеченности и мотивации команды КБТ.</a:t>
            </a:r>
          </a:p>
          <a:p>
            <a:pPr lvl="0" fontAlgn="base"/>
            <a:r>
              <a:rPr lang="ru-RU" dirty="0"/>
              <a:t>Поддерживаешь стабильное выполнение результатов по своевременности обучения ЦА в регионах.</a:t>
            </a:r>
          </a:p>
          <a:p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Твои коммуникативные навыки и креативность делают тебя ценным членом нашей команды. Спасибо, Тина, за твой труд и высокую вовлеченность!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C97131-AC8D-46FE-BD1E-923EAC6AFCEB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6562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ru-RU" b="1" dirty="0"/>
              <a:t>Оля</a:t>
            </a:r>
            <a:r>
              <a:rPr lang="ru-RU" dirty="0"/>
              <a:t>, хочу выразить тебе искреннюю благодарность за твой вклад в проекты и задачи Корпоративного университета в 2025 году!</a:t>
            </a:r>
          </a:p>
          <a:p>
            <a:pPr fontAlgn="base"/>
            <a:r>
              <a:rPr lang="ru-RU" dirty="0"/>
              <a:t>Твоя отзывчивость, исполнительность и коммуникабельность помогли нам достичь многих целей и выполнить поставленные задачи.</a:t>
            </a:r>
          </a:p>
          <a:p>
            <a:pPr fontAlgn="base"/>
            <a:r>
              <a:rPr lang="ru-RU" dirty="0"/>
              <a:t>В этом году ты:</a:t>
            </a:r>
          </a:p>
          <a:p>
            <a:pPr lvl="0" fontAlgn="base"/>
            <a:r>
              <a:rPr lang="ru-RU" dirty="0"/>
              <a:t>Приняла активное участие в разработке и проведении вебинара для HRBP.</a:t>
            </a:r>
          </a:p>
          <a:p>
            <a:pPr lvl="0" fontAlgn="base"/>
            <a:r>
              <a:rPr lang="ru-RU" dirty="0"/>
              <a:t>Обеспечила эффективность и своевременность процесса исследования портретов целевых аудиторий ЧБР, ТУ и ТН.</a:t>
            </a:r>
          </a:p>
          <a:p>
            <a:pPr lvl="0" fontAlgn="base"/>
            <a:r>
              <a:rPr lang="ru-RU" dirty="0"/>
              <a:t>В составе проектной команды разработала артефакты для трека ДР.</a:t>
            </a:r>
          </a:p>
          <a:p>
            <a:pPr lvl="0" fontAlgn="base"/>
            <a:r>
              <a:rPr lang="ru-RU" dirty="0"/>
              <a:t>Поддерживаешь стабильное выполнение результатов по своевременности обучения ЦА в регионах.</a:t>
            </a:r>
          </a:p>
          <a:p>
            <a:pPr fontAlgn="base"/>
            <a:endParaRPr lang="ru-RU" dirty="0"/>
          </a:p>
          <a:p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Твои отзывчивость и готовность помочь делают тебя ценным членом нашей команды. Спасибо, Оля, за твой труд и высокую вовлеченность!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C97131-AC8D-46FE-BD1E-923EAC6AFCEB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54827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ru-RU" dirty="0"/>
              <a:t> </a:t>
            </a:r>
          </a:p>
          <a:p>
            <a:pPr fontAlgn="base"/>
            <a:r>
              <a:rPr lang="ru-RU" b="1" dirty="0"/>
              <a:t>Юля К,</a:t>
            </a:r>
            <a:r>
              <a:rPr lang="ru-RU" dirty="0"/>
              <a:t> хочу выразить тебе искреннюю благодарность за твой вклад в проекты и задачи Корпоративного университета в 2025 году!</a:t>
            </a:r>
          </a:p>
          <a:p>
            <a:pPr fontAlgn="base"/>
            <a:r>
              <a:rPr lang="ru-RU" dirty="0"/>
              <a:t>Твоя коммуникабельность, открытость и настойчивость помогли нам достичь многих целей и сделать нашу работу более эффективной.</a:t>
            </a:r>
          </a:p>
          <a:p>
            <a:pPr fontAlgn="base"/>
            <a:r>
              <a:rPr lang="ru-RU" dirty="0"/>
              <a:t>В этом году ты:</a:t>
            </a:r>
          </a:p>
          <a:p>
            <a:pPr lvl="0" fontAlgn="base"/>
            <a:r>
              <a:rPr lang="ru-RU" dirty="0"/>
              <a:t>Приняла активное участие в апробации тестовой базы вопросов в проекте "Система тестирования для всех категорий должностей".</a:t>
            </a:r>
          </a:p>
          <a:p>
            <a:pPr lvl="0" fontAlgn="base"/>
            <a:r>
              <a:rPr lang="ru-RU" dirty="0"/>
              <a:t>Внесла вклад в исследование портрета целевой аудитории ЧБР и ТУ.</a:t>
            </a:r>
          </a:p>
          <a:p>
            <a:pPr lvl="0" fontAlgn="base"/>
            <a:r>
              <a:rPr lang="ru-RU" dirty="0"/>
              <a:t>Разработала новый вид тестирования для целевой аудитории, переработав синхронную сертификацию по знаниям стандартов обучения в асинхронный формат, что снизило нагрузку на команду КБТ.</a:t>
            </a:r>
          </a:p>
          <a:p>
            <a:pPr lvl="0" fontAlgn="base"/>
            <a:r>
              <a:rPr lang="ru-RU" dirty="0"/>
              <a:t>Приняла участие в исследовании гипотез проекта "Наставничество".</a:t>
            </a:r>
          </a:p>
          <a:p>
            <a:pPr lvl="0" fontAlgn="base"/>
            <a:r>
              <a:rPr lang="ru-RU" dirty="0"/>
              <a:t>Обеспечиваешь всю команду актуальными коммуникациями с ЦА и их руководителями по тренингам.</a:t>
            </a:r>
          </a:p>
          <a:p>
            <a:pPr lvl="0" fontAlgn="base"/>
            <a:r>
              <a:rPr lang="ru-RU" dirty="0"/>
              <a:t>Поддерживаешь стабильное выполнение результатов по своевременности обучения ЦА в регионах.</a:t>
            </a:r>
          </a:p>
          <a:p>
            <a:pPr fontAlgn="base"/>
            <a:endParaRPr lang="ru-RU" dirty="0"/>
          </a:p>
          <a:p>
            <a:pPr fontAlgn="base"/>
            <a:endParaRPr lang="ru-RU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Твой профессионализм, мягкость и готовность помочь делают тебя ценным членом нашей команды. Спасибо, Юля, за твой труд и высокую вовлеченность!</a:t>
            </a:r>
          </a:p>
          <a:p>
            <a:pPr fontAlgn="base"/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C97131-AC8D-46FE-BD1E-923EAC6AFCEB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89508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ru-RU" b="1" dirty="0"/>
              <a:t>Ирина,</a:t>
            </a:r>
            <a:r>
              <a:rPr lang="ru-RU" dirty="0"/>
              <a:t>  хочу выразить тебе огромную благодарность за твой вклад в проекты и задачи Корпоративного университета с момента твоего возвращения из декрета в сентябре 2025 года!</a:t>
            </a:r>
          </a:p>
          <a:p>
            <a:pPr fontAlgn="base"/>
            <a:r>
              <a:rPr lang="ru-RU" dirty="0"/>
              <a:t>Твоя ответственность, детальность и адаптивность помогли тебе быстро влиться в нашу команду и внести значительный вклад в нашу работу.</a:t>
            </a:r>
          </a:p>
          <a:p>
            <a:pPr fontAlgn="base"/>
            <a:r>
              <a:rPr lang="ru-RU" dirty="0"/>
              <a:t>За это время ты:</a:t>
            </a:r>
          </a:p>
          <a:p>
            <a:pPr lvl="0" fontAlgn="base"/>
            <a:r>
              <a:rPr lang="ru-RU" dirty="0"/>
              <a:t>Успешно прошла адаптацию и освоила наши административные задачи.</a:t>
            </a:r>
          </a:p>
          <a:p>
            <a:pPr lvl="0" fontAlgn="base"/>
            <a:r>
              <a:rPr lang="ru-RU" dirty="0"/>
              <a:t>Взяла на себя часть рутинной работы корпоративных бизнес-тренеров, что позволило им сосредоточиться на проведении тренингов и сложных проектах.</a:t>
            </a:r>
          </a:p>
          <a:p>
            <a:pPr lvl="0" fontAlgn="base"/>
            <a:r>
              <a:rPr lang="ru-RU" dirty="0"/>
              <a:t>Обеспечивала актуальность базы вопросов для целевой аудитории в процессе ресертификации.</a:t>
            </a:r>
          </a:p>
          <a:p>
            <a:pPr fontAlgn="base"/>
            <a:endParaRPr lang="ru-RU" dirty="0"/>
          </a:p>
          <a:p>
            <a:pPr fontAlgn="base"/>
            <a:endParaRPr lang="ru-RU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Твоя адаптивность и погруженность в детали делают тебя ценным членом нашей команды. Спасибо, Ира, за твой труд и высокую вовлеченность!</a:t>
            </a:r>
          </a:p>
          <a:p>
            <a:pPr fontAlgn="base"/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C97131-AC8D-46FE-BD1E-923EAC6AFCEB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22106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ru-RU" b="1" dirty="0"/>
              <a:t>Аня,</a:t>
            </a:r>
            <a:r>
              <a:rPr lang="ru-RU" dirty="0"/>
              <a:t> хочу выразить тебе огромную благодарность за твой вклад в проекты и задачи Корпоративного университета в 2025 году!</a:t>
            </a:r>
          </a:p>
          <a:p>
            <a:pPr fontAlgn="base"/>
            <a:r>
              <a:rPr lang="ru-RU" dirty="0"/>
              <a:t>Твоя исполнительность и погруженность в детали помогли нам достичь многих целей.</a:t>
            </a:r>
          </a:p>
          <a:p>
            <a:pPr fontAlgn="base"/>
            <a:r>
              <a:rPr lang="ru-RU" dirty="0"/>
              <a:t>В этом году ты:</a:t>
            </a:r>
          </a:p>
          <a:p>
            <a:pPr lvl="0" fontAlgn="base"/>
            <a:r>
              <a:rPr lang="ru-RU" dirty="0"/>
              <a:t>Разработала инструменты, которые значительно улучшили подготовку, проведение и подведение итогов Визитов в рестораны.</a:t>
            </a:r>
          </a:p>
          <a:p>
            <a:pPr lvl="0" fontAlgn="base"/>
            <a:r>
              <a:rPr lang="ru-RU" dirty="0"/>
              <a:t>Приняла активное участие в исследовании портрета целевой аудитории ЧБР и ТУ.</a:t>
            </a:r>
          </a:p>
          <a:p>
            <a:pPr lvl="0" fontAlgn="base"/>
            <a:r>
              <a:rPr lang="ru-RU" dirty="0"/>
              <a:t>Проверила 419 вопросов ресертификации и подобрала материалы для обучения ЦА по этим вопросам.</a:t>
            </a:r>
          </a:p>
          <a:p>
            <a:pPr lvl="0" fontAlgn="base"/>
            <a:r>
              <a:rPr lang="ru-RU" dirty="0"/>
              <a:t>Внесла вклад в исследование гипотез проекта "Наставничество".</a:t>
            </a:r>
          </a:p>
          <a:p>
            <a:pPr lvl="0" fontAlgn="base"/>
            <a:r>
              <a:rPr lang="ru-RU" dirty="0"/>
              <a:t>Помогаешь с адаптацией </a:t>
            </a:r>
            <a:r>
              <a:rPr lang="ru-RU" dirty="0" err="1"/>
              <a:t>Усцелемовой</a:t>
            </a:r>
            <a:r>
              <a:rPr lang="ru-RU" dirty="0"/>
              <a:t> Галины.</a:t>
            </a:r>
          </a:p>
          <a:p>
            <a:pPr lvl="0" fontAlgn="base"/>
            <a:r>
              <a:rPr lang="ru-RU" dirty="0"/>
              <a:t>Поддерживаешь стабильное выполнение результатов по своевременности обучения ЦА в регионах.</a:t>
            </a:r>
          </a:p>
          <a:p>
            <a:pPr fontAlgn="base"/>
            <a:endParaRPr lang="ru-RU" dirty="0"/>
          </a:p>
          <a:p>
            <a:pPr fontAlgn="base"/>
            <a:endParaRPr lang="ru-RU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Твой профессионализм делают тебя ценным членом нашей команды. Спасибо, Аня, за твой труд и высокую вовлеченность!</a:t>
            </a:r>
          </a:p>
          <a:p>
            <a:pPr fontAlgn="base"/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C97131-AC8D-46FE-BD1E-923EAC6AFCEB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23092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Юля Т.,</a:t>
            </a:r>
            <a:r>
              <a:rPr lang="ru-RU" dirty="0"/>
              <a:t> хочу выразить тебе огромную благодарность за твой вклад в проекты и задачи Корпоративного университета в 2025 году!</a:t>
            </a:r>
          </a:p>
          <a:p>
            <a:pPr fontAlgn="base"/>
            <a:r>
              <a:rPr lang="ru-RU" dirty="0"/>
              <a:t>Твоя высокая производительность, настойчивость, инициативность и аналитичность помогли нам достичь многих целей и сделать нашу работу более эффективной.</a:t>
            </a:r>
          </a:p>
          <a:p>
            <a:pPr fontAlgn="base"/>
            <a:r>
              <a:rPr lang="ru-RU" dirty="0"/>
              <a:t>В этом году ты:</a:t>
            </a:r>
          </a:p>
          <a:p>
            <a:pPr lvl="0" fontAlgn="base"/>
            <a:r>
              <a:rPr lang="ru-RU" dirty="0"/>
              <a:t>Полностью обновила материалы по сертификации бизнес-тренеров и разработала процесс регулярной </a:t>
            </a:r>
            <a:r>
              <a:rPr lang="ru-RU" dirty="0" err="1"/>
              <a:t>супервизии</a:t>
            </a:r>
            <a:r>
              <a:rPr lang="ru-RU" dirty="0"/>
              <a:t>, который успешно запустили в 4 квартале.</a:t>
            </a:r>
          </a:p>
          <a:p>
            <a:pPr lvl="0" fontAlgn="base"/>
            <a:r>
              <a:rPr lang="ru-RU" dirty="0"/>
              <a:t>Внесла важный вклад в сборку и актуализацию трека "Развитие МС", что позволило собрать все синхронные мероприятия для целевой аудитории в одном месте.</a:t>
            </a:r>
          </a:p>
          <a:p>
            <a:pPr lvl="0" fontAlgn="base"/>
            <a:r>
              <a:rPr lang="ru-RU" dirty="0"/>
              <a:t>Обеспечила запуск трека </a:t>
            </a:r>
            <a:r>
              <a:rPr lang="ru-RU" dirty="0" err="1"/>
              <a:t>ЧиО</a:t>
            </a:r>
            <a:r>
              <a:rPr lang="ru-RU" dirty="0"/>
              <a:t> и Продукт.</a:t>
            </a:r>
          </a:p>
          <a:p>
            <a:pPr lvl="0" fontAlgn="base"/>
            <a:r>
              <a:rPr lang="ru-RU" dirty="0"/>
              <a:t>Реализовала этап "Инициирования" в проекте "Наставничество", подготовив все необходимые данные для проверки гипотез</a:t>
            </a:r>
          </a:p>
          <a:p>
            <a:pPr lvl="0" fontAlgn="base"/>
            <a:r>
              <a:rPr lang="ru-RU" dirty="0"/>
              <a:t>Стала наставником Ивановой Ирины, поддерживая её в профессиональном росте</a:t>
            </a:r>
          </a:p>
          <a:p>
            <a:pPr lvl="0" fontAlgn="base"/>
            <a:r>
              <a:rPr lang="ru-RU" dirty="0"/>
              <a:t>Обеспечиваешь бесперебойную работу календаря </a:t>
            </a:r>
            <a:r>
              <a:rPr lang="ru-RU" dirty="0" err="1"/>
              <a:t>КингГуру</a:t>
            </a:r>
            <a:r>
              <a:rPr lang="ru-RU" dirty="0"/>
              <a:t>: составляешь расписания, создаешь отчеты и оперативно вносишь правки и все наши безумные «хочу»</a:t>
            </a:r>
          </a:p>
          <a:p>
            <a:pPr lvl="0" fontAlgn="base"/>
            <a:r>
              <a:rPr lang="ru-RU" dirty="0"/>
              <a:t>Поддерживаешь стабильно высокие результаты по своевременности обучения ЦА в регионах.</a:t>
            </a:r>
          </a:p>
          <a:p>
            <a:endParaRPr lang="ru-RU" dirty="0"/>
          </a:p>
          <a:p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Твой профессионализм и ответственность делают тебя незаменимым членом нашей команды. Спасибо, Юля, за твой труд и высокую вовлеченность!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C97131-AC8D-46FE-BD1E-923EAC6AFCEB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80640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Галя, спасибо, что ты снова выбрала нас и присоединилась к команде!</a:t>
            </a:r>
          </a:p>
          <a:p>
            <a:r>
              <a:rPr lang="ru-RU" dirty="0"/>
              <a:t>Желаю тебе успешной адаптации и работы с удовольствием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C97131-AC8D-46FE-BD1E-923EAC6AFCEB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2356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C97131-AC8D-46FE-BD1E-923EAC6AFCEB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18556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Оля, всего за месяц сняла и смонтировала 13 видео курсов для трека ввод в должность ОД. Вышло креативно, структурно и , как всегда, с изюминкой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C97131-AC8D-46FE-BD1E-923EAC6AFCEB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72096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Оксана, смогла всего за 4 месяца организовать разработку ввода в должность Од от идею и концепции до полностью готовых материалов, и это с учетом того, что для разработки не было ни одного регламента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C97131-AC8D-46FE-BD1E-923EAC6AFCEB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09332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+mn-lt"/>
              </a:rPr>
              <a:t>Аня, спасибо за разработку трека МС </a:t>
            </a:r>
            <a:r>
              <a:rPr lang="ru-RU" dirty="0" err="1">
                <a:solidFill>
                  <a:prstClr val="black"/>
                </a:solidFill>
                <a:latin typeface="+mn-lt"/>
              </a:rPr>
              <a:t>ЧиО</a:t>
            </a:r>
            <a:r>
              <a:rPr lang="ru-RU" dirty="0">
                <a:solidFill>
                  <a:prstClr val="black"/>
                </a:solidFill>
                <a:latin typeface="+mn-lt"/>
              </a:rPr>
              <a:t>: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ru-RU" dirty="0">
                <a:solidFill>
                  <a:prstClr val="black"/>
                </a:solidFill>
                <a:latin typeface="+mn-lt"/>
              </a:rPr>
              <a:t>Ты разработала курсы без достаточного количества материалов.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ru-RU" dirty="0">
                <a:solidFill>
                  <a:prstClr val="black"/>
                </a:solidFill>
                <a:latin typeface="+mn-lt"/>
              </a:rPr>
              <a:t>Благодарю за твою смекалку и способность самостоятельно находить выход из сложных ситуаций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+mn-lt"/>
              </a:rPr>
              <a:t>за работу в </a:t>
            </a:r>
            <a:r>
              <a:rPr lang="ru-RU" b="1" dirty="0">
                <a:solidFill>
                  <a:prstClr val="black"/>
                </a:solidFill>
                <a:latin typeface="+mn-lt"/>
              </a:rPr>
              <a:t>треке ТУ и </a:t>
            </a:r>
            <a:r>
              <a:rPr lang="ru-RU" dirty="0">
                <a:solidFill>
                  <a:prstClr val="black"/>
                </a:solidFill>
                <a:latin typeface="+mn-lt"/>
              </a:rPr>
              <a:t>способность найти подход даже к самым сложным экспертам!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+mn-lt"/>
              </a:rPr>
              <a:t>За то, что даришь заботу нашей ЦА через свои курсы.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ru-RU" b="1" dirty="0">
                <a:solidFill>
                  <a:prstClr val="black"/>
                </a:solidFill>
                <a:latin typeface="+mn-lt"/>
              </a:rPr>
              <a:t>Трек Ночная уборка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+mn-lt"/>
              </a:rPr>
              <a:t>В условиях отсутствия материалов и регламентов, смены лидера проекта, задержки контента от оператора у тебя получилось докопаться до сути процесса Ночной уборки: создать курсы, памятки и процесс сертификации и планы наставничества 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ru-RU" b="1" dirty="0">
                <a:solidFill>
                  <a:prstClr val="black"/>
                </a:solidFill>
                <a:latin typeface="+mn-lt"/>
              </a:rPr>
              <a:t>Ресертификация: </a:t>
            </a:r>
            <a:r>
              <a:rPr lang="ru-RU" dirty="0">
                <a:solidFill>
                  <a:prstClr val="black"/>
                </a:solidFill>
                <a:latin typeface="+mn-lt"/>
              </a:rPr>
              <a:t>вычитка базы вопросов Ресертификации, которая помогла увеличить показатель Удовлетворенности процессом у ЦА.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+mn-lt"/>
              </a:rPr>
              <a:t>Аня, горжусь, что в таком сложном и меняющемся процессе, вы не потеряли ориентацию на цель и лояльность к проекту.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C97131-AC8D-46FE-BD1E-923EAC6AFCEB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187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ru-RU" dirty="0">
                <a:solidFill>
                  <a:srgbClr val="000000"/>
                </a:solidFill>
                <a:latin typeface="Roboto"/>
              </a:rPr>
              <a:t>Маша, 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ru-RU" dirty="0">
                <a:solidFill>
                  <a:srgbClr val="000000"/>
                </a:solidFill>
                <a:latin typeface="Roboto"/>
              </a:rPr>
              <a:t>Спасибо за заботу в треке МС Продукт. Самостоятельно разработала 18 курсов! 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ru-RU" dirty="0">
                <a:solidFill>
                  <a:srgbClr val="000000"/>
                </a:solidFill>
                <a:latin typeface="Roboto"/>
              </a:rPr>
              <a:t>Контент получил самую высокую оценку от Исполнительно директора – лидера направления – </a:t>
            </a:r>
            <a:r>
              <a:rPr lang="ru-RU" dirty="0" err="1">
                <a:solidFill>
                  <a:srgbClr val="000000"/>
                </a:solidFill>
                <a:latin typeface="Roboto"/>
              </a:rPr>
              <a:t>Р.Хафизова</a:t>
            </a:r>
            <a:r>
              <a:rPr lang="ru-RU" dirty="0">
                <a:solidFill>
                  <a:srgbClr val="000000"/>
                </a:solidFill>
                <a:latin typeface="Roboto"/>
              </a:rPr>
              <a:t>.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ru-RU" dirty="0">
                <a:solidFill>
                  <a:srgbClr val="000000"/>
                </a:solidFill>
                <a:latin typeface="Roboto"/>
              </a:rPr>
              <a:t>Разработка трека ТУ. 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ru-RU" dirty="0">
                <a:solidFill>
                  <a:srgbClr val="000000"/>
                </a:solidFill>
                <a:latin typeface="Roboto"/>
              </a:rPr>
              <a:t>Спасибо за жадность в исследовании запросов ЦА и постижении тонкостей Педагогического Дизайна. За то, что ты учишься и совершенствуешь свой навык методологии через работу с наставником.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ru-RU" dirty="0">
                <a:solidFill>
                  <a:srgbClr val="000000"/>
                </a:solidFill>
                <a:latin typeface="Roboto"/>
              </a:rPr>
              <a:t>За год заметен твой качественный рост, как профессионала.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ru-RU" dirty="0">
                <a:solidFill>
                  <a:srgbClr val="000000"/>
                </a:solidFill>
                <a:latin typeface="Roboto"/>
              </a:rPr>
              <a:t>Обучения ДР, </a:t>
            </a:r>
            <a:r>
              <a:rPr lang="en-US" dirty="0">
                <a:solidFill>
                  <a:srgbClr val="000000"/>
                </a:solidFill>
                <a:latin typeface="Roboto"/>
              </a:rPr>
              <a:t>EBITDA</a:t>
            </a:r>
            <a:r>
              <a:rPr lang="ru-RU" dirty="0">
                <a:solidFill>
                  <a:srgbClr val="000000"/>
                </a:solidFill>
                <a:latin typeface="Roboto"/>
              </a:rPr>
              <a:t>: как повышать прибыль ресторана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ru-RU" dirty="0">
                <a:solidFill>
                  <a:srgbClr val="000000"/>
                </a:solidFill>
                <a:latin typeface="Roboto"/>
              </a:rPr>
              <a:t>Маша попробовала себя в роли МП: согласовывала контент от внешнего методолога, управляла динамикой на встрече с </a:t>
            </a:r>
            <a:r>
              <a:rPr lang="ru-RU" dirty="0" err="1">
                <a:solidFill>
                  <a:srgbClr val="000000"/>
                </a:solidFill>
                <a:latin typeface="Roboto"/>
              </a:rPr>
              <a:t>экпертами</a:t>
            </a:r>
            <a:r>
              <a:rPr lang="ru-RU" dirty="0">
                <a:solidFill>
                  <a:srgbClr val="000000"/>
                </a:solidFill>
                <a:latin typeface="Roboto"/>
              </a:rPr>
              <a:t>. Выступала модератором в сложных ситуациях.</a:t>
            </a:r>
            <a:br>
              <a:rPr lang="ru-RU" dirty="0">
                <a:solidFill>
                  <a:prstClr val="black"/>
                </a:solidFill>
                <a:latin typeface="+mn-lt"/>
              </a:rPr>
            </a:br>
            <a:r>
              <a:rPr lang="ru-RU" dirty="0">
                <a:solidFill>
                  <a:srgbClr val="000000"/>
                </a:solidFill>
                <a:latin typeface="Roboto"/>
              </a:rPr>
              <a:t>За время работы над проектом сформировала доверительные, классные отношения с экспертами, что повлияло на результат проекта.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ru-RU" dirty="0">
                <a:solidFill>
                  <a:srgbClr val="000000"/>
                </a:solidFill>
                <a:latin typeface="Roboto"/>
              </a:rPr>
              <a:t>Ресертификация: </a:t>
            </a:r>
            <a:r>
              <a:rPr lang="ru-RU" dirty="0">
                <a:solidFill>
                  <a:prstClr val="black"/>
                </a:solidFill>
                <a:latin typeface="+mn-lt"/>
              </a:rPr>
              <a:t>Ресертификация: Очень качественная вычитка базы вопросов Ресертификации, которая помогла увеличить показатель Удовлетворенности процессом у ЦА.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C97131-AC8D-46FE-BD1E-923EAC6AFCEB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24062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prstClr val="black"/>
                </a:solidFill>
                <a:latin typeface="+mn-lt"/>
              </a:rPr>
              <a:t>Дина, </a:t>
            </a:r>
          </a:p>
          <a:p>
            <a:r>
              <a:rPr lang="ru-RU" dirty="0">
                <a:solidFill>
                  <a:prstClr val="black"/>
                </a:solidFill>
                <a:latin typeface="+mn-lt"/>
              </a:rPr>
              <a:t>Спасибо За быстрый старт и желание узнавать и учиться новому в методологии. За те продукты, которые ты выпускаешь, потому что по ним трудно сказать, что ты только адаптируешься!</a:t>
            </a:r>
          </a:p>
          <a:p>
            <a:r>
              <a:rPr lang="ru-RU" dirty="0">
                <a:solidFill>
                  <a:prstClr val="black"/>
                </a:solidFill>
                <a:latin typeface="+mn-lt"/>
              </a:rPr>
              <a:t>за работу в треке ТУ</a:t>
            </a:r>
          </a:p>
          <a:p>
            <a:r>
              <a:rPr lang="ru-RU" dirty="0">
                <a:solidFill>
                  <a:prstClr val="black"/>
                </a:solidFill>
                <a:latin typeface="+mn-lt"/>
              </a:rPr>
              <a:t>за готовность оказать поддержку команде по всем вопросам и быть полезной для отдела, КУ и компании</a:t>
            </a:r>
          </a:p>
          <a:p>
            <a:r>
              <a:rPr lang="ru-RU" dirty="0">
                <a:solidFill>
                  <a:prstClr val="black"/>
                </a:solidFill>
                <a:latin typeface="+mn-lt"/>
              </a:rPr>
              <a:t>за разработанное задание в треке ДР: </a:t>
            </a:r>
            <a:r>
              <a:rPr lang="en-US" dirty="0">
                <a:solidFill>
                  <a:prstClr val="black"/>
                </a:solidFill>
                <a:latin typeface="+mn-lt"/>
              </a:rPr>
              <a:t>EBITDA</a:t>
            </a:r>
          </a:p>
          <a:p>
            <a:r>
              <a:rPr lang="ru-RU" dirty="0">
                <a:solidFill>
                  <a:prstClr val="black"/>
                </a:solidFill>
                <a:latin typeface="+mn-lt"/>
              </a:rPr>
              <a:t>Твоя </a:t>
            </a:r>
            <a:r>
              <a:rPr lang="ru-RU" dirty="0" err="1">
                <a:solidFill>
                  <a:prstClr val="black"/>
                </a:solidFill>
                <a:latin typeface="+mn-lt"/>
              </a:rPr>
              <a:t>Опс</a:t>
            </a:r>
            <a:r>
              <a:rPr lang="ru-RU" dirty="0">
                <a:solidFill>
                  <a:prstClr val="black"/>
                </a:solidFill>
                <a:latin typeface="+mn-lt"/>
              </a:rPr>
              <a:t>-экспертиза очень ценна и полезна для нашей команды.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C97131-AC8D-46FE-BD1E-923EAC6AFCEB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96275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+mn-lt"/>
              </a:rPr>
              <a:t>Эля, спасибо за то, что держишь пост визуального директора КУ! 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+mn-lt"/>
              </a:rPr>
              <a:t>Твоя экспертиза в дизайне дает нам уверенность в то, что чтобы мы ни делали – будет красиво и стильно. 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+mn-lt"/>
              </a:rPr>
              <a:t>       Благодаря тебе у каждого трека есть свой узнаваемый шаблон, который доносит смысл через дизайн.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+mn-lt"/>
              </a:rPr>
              <a:t>что уделяешь много времени на развитие команды методологов,  даешь крутую ОС, развиваешь навыки </a:t>
            </a:r>
            <a:r>
              <a:rPr lang="ru-RU" dirty="0" err="1">
                <a:solidFill>
                  <a:prstClr val="black"/>
                </a:solidFill>
                <a:latin typeface="+mn-lt"/>
              </a:rPr>
              <a:t>Пед</a:t>
            </a:r>
            <a:r>
              <a:rPr lang="ru-RU" dirty="0">
                <a:solidFill>
                  <a:prstClr val="black"/>
                </a:solidFill>
                <a:latin typeface="+mn-lt"/>
              </a:rPr>
              <a:t> Дизайна, стоишь на страже качества и красоты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+mn-lt"/>
              </a:rPr>
              <a:t>за монтаж и переводы трека Повар. В этом проекте тебе удалось объединить все: новые инструменты, достижение результата в короткие сроки и возможность медитировать в процессе.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C97131-AC8D-46FE-BD1E-923EAC6AFCEB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94175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srgbClr val="000000"/>
                </a:solidFill>
                <a:latin typeface="Roboto"/>
              </a:rPr>
              <a:t>Артем, спасибо за упорство во внедрении новых технологий, которые значительно упрощают нашу работу. За готовность помочь. И за то, какую экспертизу ты имеешь и которой делишься со всей командой ТУ</a:t>
            </a:r>
            <a:endParaRPr lang="ru-RU" dirty="0"/>
          </a:p>
          <a:p>
            <a:r>
              <a:rPr lang="ru-RU" dirty="0">
                <a:solidFill>
                  <a:srgbClr val="000000"/>
                </a:solidFill>
                <a:latin typeface="Roboto"/>
              </a:rPr>
              <a:t>за видимый результат в озвучке и переводах трека Повар. На этом проекте мы видим не только волшебство современных технологий, но и финансовый результат: экономию 2 млн.</a:t>
            </a:r>
          </a:p>
          <a:p>
            <a:r>
              <a:rPr lang="ru-RU" dirty="0">
                <a:solidFill>
                  <a:srgbClr val="000000"/>
                </a:solidFill>
                <a:latin typeface="Roboto"/>
              </a:rPr>
              <a:t>за создание чек-листов разработчика, которые позволяют структурировать эффективно действовать в кризисных ситуациях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В начале года мы умели пользоваться только чатом GPT, сейчас ИИ помогает закрывать очень много задач.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Особый респект за инструменты озвучки. 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Раньше озвучивание </a:t>
            </a:r>
            <a:r>
              <a:rPr kumimoji="0" lang="ru-RU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скринкаста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 занимал 2-4 часа, сейчас работа занимает не больше часа - и это ВАУ!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C97131-AC8D-46FE-BD1E-923EAC6AFCEB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86083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prstClr val="black"/>
                </a:solidFill>
                <a:latin typeface="+mn-lt"/>
              </a:rPr>
              <a:t>Юля, спасибо за то, что в треке Повар билась за каждое правильно ударение в переводе 5 языков. За то, что искала решения вместе с командой автоматизации «вопреки». </a:t>
            </a:r>
          </a:p>
          <a:p>
            <a:r>
              <a:rPr lang="ru-RU" dirty="0">
                <a:solidFill>
                  <a:prstClr val="black"/>
                </a:solidFill>
                <a:latin typeface="+mn-lt"/>
              </a:rPr>
              <a:t>за то, что показывала каждый день, что такое настойчивость во взаимодействии с оператором. И за тот результат, который мы сейчас видим: 13 говорящих, красивых роликов, которые передают каждый этап процесса</a:t>
            </a:r>
          </a:p>
          <a:p>
            <a:r>
              <a:rPr lang="ru-RU" dirty="0">
                <a:solidFill>
                  <a:prstClr val="black"/>
                </a:solidFill>
                <a:latin typeface="+mn-lt"/>
              </a:rPr>
              <a:t>за то, что тренировала риск менеджмент в проекте трек Курьеры. И первая реализовала новый формат обучения – чат-бот, со статистикой и обратной связью</a:t>
            </a:r>
          </a:p>
          <a:p>
            <a:endParaRPr lang="ru-RU" dirty="0">
              <a:solidFill>
                <a:prstClr val="black"/>
              </a:solidFill>
              <a:latin typeface="+mn-lt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+mn-lt"/>
              </a:rPr>
              <a:t>за то, что являешься надежным плечом для команды и подхватываешь проекты, где нужна твоя экспертиза: основы, трек ДР, Ресертификация, Ночная уборка.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+mn-lt"/>
              </a:rPr>
              <a:t>Все, к чему ты прикасаешься, обретает календарный план, структуру и логику! 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endParaRPr lang="ru-RU" dirty="0">
              <a:solidFill>
                <a:prstClr val="black"/>
              </a:solidFill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ru-RU" dirty="0">
                <a:solidFill>
                  <a:prstClr val="black"/>
                </a:solidFill>
                <a:latin typeface="+mn-lt"/>
              </a:rPr>
              <a:t>за то, что вдохнула жизнь в проект Ресертификация и показала смыслы и цели команде методологов, совместно с Лидой выстроила процесс работы и привела базу вопросов в ее лучшую форму.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C97131-AC8D-46FE-BD1E-923EAC6AFCEB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74804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prstClr val="black"/>
                </a:solidFill>
                <a:latin typeface="+mn-lt"/>
              </a:rPr>
              <a:t>Варя, спасибо за то, что нуля «из палок и прочих принадлежностей» разработала трек МС Продукт. Силами одного методолога и разработчика. Спасибо за твое четкое видение цели и высокую планку качества</a:t>
            </a:r>
          </a:p>
          <a:p>
            <a:r>
              <a:rPr lang="ru-RU" dirty="0">
                <a:solidFill>
                  <a:prstClr val="black"/>
                </a:solidFill>
                <a:latin typeface="+mn-lt"/>
              </a:rPr>
              <a:t>за Трек ЗД  - наполнение каждого модуля и креативный подход к работе. </a:t>
            </a:r>
          </a:p>
          <a:p>
            <a:r>
              <a:rPr lang="ru-RU" dirty="0">
                <a:solidFill>
                  <a:prstClr val="black"/>
                </a:solidFill>
                <a:latin typeface="+mn-lt"/>
              </a:rPr>
              <a:t>За то, что своим примером показываешь, что эффективное планирование – это реальность.</a:t>
            </a:r>
          </a:p>
          <a:p>
            <a:r>
              <a:rPr lang="ru-RU" dirty="0">
                <a:solidFill>
                  <a:prstClr val="black"/>
                </a:solidFill>
                <a:latin typeface="+mn-lt"/>
              </a:rPr>
              <a:t>что ты развиваешь команду, делишься экспертизой и </a:t>
            </a:r>
            <a:r>
              <a:rPr lang="ru-RU" dirty="0" err="1">
                <a:solidFill>
                  <a:prstClr val="black"/>
                </a:solidFill>
                <a:latin typeface="+mn-lt"/>
              </a:rPr>
              <a:t>простраиваешь</a:t>
            </a:r>
            <a:r>
              <a:rPr lang="ru-RU" dirty="0">
                <a:solidFill>
                  <a:prstClr val="black"/>
                </a:solidFill>
                <a:latin typeface="+mn-lt"/>
              </a:rPr>
              <a:t> процессы шаг за шагом</a:t>
            </a:r>
          </a:p>
          <a:p>
            <a:r>
              <a:rPr lang="ru-RU" dirty="0">
                <a:solidFill>
                  <a:prstClr val="black"/>
                </a:solidFill>
                <a:latin typeface="+mn-lt"/>
              </a:rPr>
              <a:t>за твою глубокую методологическую экспертизу и внимание к деталям в разработке курсов</a:t>
            </a:r>
            <a:r>
              <a:rPr lang="ru-RU" sz="1800" dirty="0">
                <a:solidFill>
                  <a:srgbClr val="000000"/>
                </a:solidFill>
                <a:latin typeface="Rotonda Medium" panose="020F0602030203020204" pitchFamily="34" charset="0"/>
                <a:cs typeface="Arial" pitchFamily="34" charset="0"/>
              </a:rPr>
              <a:t> </a:t>
            </a:r>
            <a:r>
              <a:rPr lang="ru-RU" dirty="0">
                <a:solidFill>
                  <a:prstClr val="black"/>
                </a:solidFill>
                <a:latin typeface="+mn-lt"/>
              </a:rPr>
              <a:t>трека ТУ. Ты не пасуешь перед трудностями, предлагаешь миллион новых решений.</a:t>
            </a:r>
          </a:p>
          <a:p>
            <a:r>
              <a:rPr lang="ru-RU" dirty="0">
                <a:solidFill>
                  <a:prstClr val="black"/>
                </a:solidFill>
                <a:latin typeface="+mn-lt"/>
              </a:rPr>
              <a:t>за возможность опереться на тебя в сложные времена. Благодарю, что подхватила трек МС ЧИО.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C97131-AC8D-46FE-BD1E-923EAC6AFCEB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287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C97131-AC8D-46FE-BD1E-923EAC6AFCEB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97464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Запустила каталог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C97131-AC8D-46FE-BD1E-923EAC6AFCEB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9240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Лина, спасибо за то, что  обеспечила обучение для 1836 человек к нашей компании за 2025 год</a:t>
            </a:r>
          </a:p>
          <a:p>
            <a:r>
              <a:rPr lang="ru-RU" dirty="0"/>
              <a:t>Более 330 услуг закуплено, ты делаешь жизнь каждого в КУ проще и эффективнее и способствуешь развитию всех сотрудников офиса!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C97131-AC8D-46FE-BD1E-923EAC6AFCEB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3378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6FBFE9-4595-CBCD-8F32-F89799B862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DF3922-FC22-1B50-2DB8-F6C3633311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EBBCBA-6D42-C3D8-FDAE-24081A01C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638C9-8016-418B-8E41-5EE086567133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C11AC3-2D2D-2BFE-FF40-C21865818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CDF65F-F157-4540-F6F0-882A67D04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16EE7-DB7C-4788-9DD3-57ABFC3BDA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4389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B52886-AD5C-9087-3044-A1FE162DC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D9EB2C-F5EA-34E4-9A70-514150A30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A7EB03-A986-C01A-571E-56F8C0EC7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638C9-8016-418B-8E41-5EE086567133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298087-A850-5F9C-595D-DCF90161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EC48CE-4112-737E-7B48-B31D2D47E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16EE7-DB7C-4788-9DD3-57ABFC3BDA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0667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C4D18-F2E0-F41F-1A27-33127BD2E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034C9A-E49E-5431-AF73-BD87E130C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B039C3-12A0-E3C6-7B2D-311F19FE4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638C9-8016-418B-8E41-5EE086567133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B12EFD-CEB0-2029-D3A3-EA167147F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E61282-06E3-23F3-ED69-AFCB750C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16EE7-DB7C-4788-9DD3-57ABFC3BDA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1683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DA1AA7-ED3C-5E69-D83F-D578167A2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B13344-647C-CF15-DC2E-3E6900CCAE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934DF31-DA86-71B1-99F7-8B512BE7E5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6001B75-B4CA-7D49-A0CF-358C3C9E6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638C9-8016-418B-8E41-5EE086567133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13A92D4-96F8-B745-EE4F-5A0553942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2B28343-6CE5-58FA-5491-B2C93E54D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16EE7-DB7C-4788-9DD3-57ABFC3BDA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6264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F3D54D-72FE-08F6-07DC-1B25BBF7E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76E856-4317-522E-6E62-BC06430F2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E552BD1-72ED-D3FC-CB73-AED980E47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4539A5-1CFC-F3F2-3309-B78F876890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62A41CE-2545-9C90-C773-B3AE094DB9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5CCFA7C-EFB2-19D4-EA7E-A8022094D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638C9-8016-418B-8E41-5EE086567133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FEE78D2-BC12-3718-E306-443C27012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443360D-272B-4109-459C-426D401C1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16EE7-DB7C-4788-9DD3-57ABFC3BDA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979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0CE142-B4A9-C086-36CC-A0C077FAE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6AE05D9-3A4A-D2FB-3145-BB53C1733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638C9-8016-418B-8E41-5EE086567133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FC4D814-E512-67FB-C3F1-EB42B2387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276CC69-59B0-9970-9F50-D3067CF68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16EE7-DB7C-4788-9DD3-57ABFC3BDA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3218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4 блока текста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DA77F54-A470-8F1B-5215-3F9DED67B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638C9-8016-418B-8E41-5EE086567133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C835AB0-CE4E-C4F8-A168-F97AD2A32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C9B9E2-BCBC-91BA-1EA4-AF511F94E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92116EE7-DB7C-4788-9DD3-57ABFC3BDA71}" type="slidenum">
              <a:rPr lang="ru-RU" smtClean="0"/>
              <a:t>‹#›</a:t>
            </a:fld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072C801F-0504-FE1C-7CB8-548AE4F32DBA}"/>
              </a:ext>
            </a:extLst>
          </p:cNvPr>
          <p:cNvSpPr/>
          <p:nvPr userDrawn="1"/>
        </p:nvSpPr>
        <p:spPr>
          <a:xfrm>
            <a:off x="118860" y="92721"/>
            <a:ext cx="11953875" cy="6584950"/>
          </a:xfrm>
          <a:prstGeom prst="roundRect">
            <a:avLst>
              <a:gd name="adj" fmla="val 278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B2A48629-64F7-A8F9-B665-3249256B6D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4863" y="405614"/>
            <a:ext cx="11354463" cy="867601"/>
          </a:xfrm>
        </p:spPr>
        <p:txBody>
          <a:bodyPr>
            <a:normAutofit/>
          </a:bodyPr>
          <a:lstStyle>
            <a:lvl1pPr>
              <a:buNone/>
              <a:defRPr sz="4000">
                <a:latin typeface="+mj-lt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C42C111A-5BA6-F92E-58B2-107434235E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4663" y="2187575"/>
            <a:ext cx="5400000" cy="520901"/>
          </a:xfrm>
        </p:spPr>
        <p:txBody>
          <a:bodyPr>
            <a:noAutofit/>
          </a:bodyPr>
          <a:lstStyle>
            <a:lvl1pPr marL="18000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>
              <a:buNone/>
              <a:defRPr/>
            </a:lvl2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4B8227A-8E76-CFA3-3328-A58C805101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4663" y="2789519"/>
            <a:ext cx="5400000" cy="1249362"/>
          </a:xfrm>
        </p:spPr>
        <p:txBody>
          <a:bodyPr>
            <a:noAutofit/>
          </a:bodyPr>
          <a:lstStyle>
            <a:lvl1pPr marL="18000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endParaRPr lang="ru-RU" dirty="0"/>
          </a:p>
        </p:txBody>
      </p:sp>
      <p:sp>
        <p:nvSpPr>
          <p:cNvPr id="13" name="Текст 8">
            <a:extLst>
              <a:ext uri="{FF2B5EF4-FFF2-40B4-BE49-F238E27FC236}">
                <a16:creationId xmlns:a16="http://schemas.microsoft.com/office/drawing/2014/main" id="{F3D16BDF-2310-CE76-5453-2A3725F3CD9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5798" y="2187575"/>
            <a:ext cx="5400000" cy="520901"/>
          </a:xfrm>
        </p:spPr>
        <p:txBody>
          <a:bodyPr>
            <a:noAutofit/>
          </a:bodyPr>
          <a:lstStyle>
            <a:lvl1pPr marL="18000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>
              <a:buNone/>
              <a:defRPr/>
            </a:lvl2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10">
            <a:extLst>
              <a:ext uri="{FF2B5EF4-FFF2-40B4-BE49-F238E27FC236}">
                <a16:creationId xmlns:a16="http://schemas.microsoft.com/office/drawing/2014/main" id="{5D76C1B3-E114-8B38-BCFE-73A046EB786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798" y="2789519"/>
            <a:ext cx="5400000" cy="1249362"/>
          </a:xfrm>
        </p:spPr>
        <p:txBody>
          <a:bodyPr>
            <a:noAutofit/>
          </a:bodyPr>
          <a:lstStyle>
            <a:lvl1pPr marL="18000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endParaRPr lang="ru-RU" dirty="0"/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4690A9D3-286A-A125-28BE-33AB375E146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4661" y="4380236"/>
            <a:ext cx="5400000" cy="520901"/>
          </a:xfrm>
        </p:spPr>
        <p:txBody>
          <a:bodyPr>
            <a:noAutofit/>
          </a:bodyPr>
          <a:lstStyle>
            <a:lvl1pPr marL="18000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/>
            </a:lvl1pPr>
            <a:lvl2pPr>
              <a:buNone/>
              <a:defRPr/>
            </a:lvl2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10">
            <a:extLst>
              <a:ext uri="{FF2B5EF4-FFF2-40B4-BE49-F238E27FC236}">
                <a16:creationId xmlns:a16="http://schemas.microsoft.com/office/drawing/2014/main" id="{D9934922-61D2-F2BB-84AA-F9F24D32018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4663" y="4982180"/>
            <a:ext cx="5400000" cy="1249362"/>
          </a:xfrm>
        </p:spPr>
        <p:txBody>
          <a:bodyPr>
            <a:noAutofit/>
          </a:bodyPr>
          <a:lstStyle>
            <a:lvl1pPr marL="18000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endParaRPr lang="ru-RU" dirty="0"/>
          </a:p>
        </p:txBody>
      </p:sp>
      <p:sp>
        <p:nvSpPr>
          <p:cNvPr id="17" name="Текст 8">
            <a:extLst>
              <a:ext uri="{FF2B5EF4-FFF2-40B4-BE49-F238E27FC236}">
                <a16:creationId xmlns:a16="http://schemas.microsoft.com/office/drawing/2014/main" id="{BB24CEBF-DA9D-C28F-B6DC-5AA26CF45AD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95798" y="4380236"/>
            <a:ext cx="5400000" cy="520901"/>
          </a:xfrm>
        </p:spPr>
        <p:txBody>
          <a:bodyPr>
            <a:noAutofit/>
          </a:bodyPr>
          <a:lstStyle>
            <a:lvl1pPr marL="18000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>
              <a:buNone/>
              <a:defRPr/>
            </a:lvl2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10">
            <a:extLst>
              <a:ext uri="{FF2B5EF4-FFF2-40B4-BE49-F238E27FC236}">
                <a16:creationId xmlns:a16="http://schemas.microsoft.com/office/drawing/2014/main" id="{5DAC7463-E267-0DE2-5DA6-FFE3578FCDB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95798" y="4982180"/>
            <a:ext cx="5400000" cy="1249362"/>
          </a:xfrm>
        </p:spPr>
        <p:txBody>
          <a:bodyPr>
            <a:noAutofit/>
          </a:bodyPr>
          <a:lstStyle>
            <a:lvl1pPr marL="18000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292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5">
          <p15:clr>
            <a:srgbClr val="FBAE40"/>
          </p15:clr>
        </p15:guide>
        <p15:guide id="4" pos="7605">
          <p15:clr>
            <a:srgbClr val="FBAE40"/>
          </p15:clr>
        </p15:guide>
        <p15:guide id="5" orient="horz" pos="73">
          <p15:clr>
            <a:srgbClr val="FBAE40"/>
          </p15:clr>
        </p15:guide>
        <p15:guide id="6" orient="horz" pos="4247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13AA7B06-5215-1F21-058A-3285A5B9F0C9}"/>
              </a:ext>
            </a:extLst>
          </p:cNvPr>
          <p:cNvSpPr/>
          <p:nvPr userDrawn="1"/>
        </p:nvSpPr>
        <p:spPr>
          <a:xfrm>
            <a:off x="119063" y="138898"/>
            <a:ext cx="11953875" cy="6584950"/>
          </a:xfrm>
          <a:prstGeom prst="roundRect">
            <a:avLst>
              <a:gd name="adj" fmla="val 278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585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5">
          <p15:clr>
            <a:srgbClr val="FBAE40"/>
          </p15:clr>
        </p15:guide>
        <p15:guide id="4" pos="7605">
          <p15:clr>
            <a:srgbClr val="FBAE40"/>
          </p15:clr>
        </p15:guide>
        <p15:guide id="5" orient="horz" pos="73">
          <p15:clr>
            <a:srgbClr val="FBAE40"/>
          </p15:clr>
        </p15:guide>
        <p15:guide id="6" orient="horz" pos="4247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AD7C31-6E94-E010-37A2-8CA315AB7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2223E7-84FD-BE7F-9176-648F7943B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894CCF-4D44-27BA-61AE-9B1CDAB58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CDDF90A-DEC8-05D2-6AF7-9E0A251EA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638C9-8016-418B-8E41-5EE086567133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369BF48-B7A4-C4C8-22CE-C1891F800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476FA32-0470-0506-A3D6-609624239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16EE7-DB7C-4788-9DD3-57ABFC3BDA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6049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8058AC-886C-C8F9-C878-3EC2A5E3E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F69E8AC-B32C-6D25-A98C-F72D196D81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8A37D15-6D4D-4970-640C-36C75B2EE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8740FC7-5583-CF2F-D6A3-32FF2FB21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638C9-8016-418B-8E41-5EE086567133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2425184-2235-059F-547E-E4F3F064B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856D205-2DE1-4581-586D-D3C00C1B7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16EE7-DB7C-4788-9DD3-57ABFC3BDA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9734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A3054A-BC6B-F1A2-E946-7EBBE1D34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88F758D-27D8-28CC-61FC-9897DBBBFD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2EFF97-1837-F874-D11D-C9D9128CD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638C9-8016-418B-8E41-5EE086567133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105651-907C-55EC-4A16-AFAD4AB2E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FA4D04-0E3D-F8A6-1B03-27A1F7946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16EE7-DB7C-4788-9DD3-57ABFC3BDA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296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9C369BA-B8FD-0336-F0E1-C508A6825E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CC63397-9508-7D10-B4AD-0124F9841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D0564A-10B4-2BD7-DC18-65F6C2A8C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638C9-8016-418B-8E41-5EE086567133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02B44D-73A2-7712-5DE6-7BCC0B1A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188EE2-20B3-E83E-A66B-3F173194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16EE7-DB7C-4788-9DD3-57ABFC3BDA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19007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589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04C59E-ECE4-AEFA-A9EB-B1B27502C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CD3D39-9E17-5A4C-D608-82022CCB6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0670A9-F38D-1F64-1B72-7CCED931E3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1638C9-8016-418B-8E41-5EE086567133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2EAA48-FC99-AE25-F091-6894B676F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CF8AB7-409E-A06B-3F51-B603FAB83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116EE7-DB7C-4788-9DD3-57ABFC3BDA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6426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f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f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f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f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f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f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f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f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f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f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f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f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f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f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f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f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f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f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f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f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f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f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f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f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1F1A525-99AA-643B-7990-94BF0D5D3ACB}"/>
              </a:ext>
            </a:extLst>
          </p:cNvPr>
          <p:cNvSpPr/>
          <p:nvPr/>
        </p:nvSpPr>
        <p:spPr>
          <a:xfrm>
            <a:off x="407988" y="324132"/>
            <a:ext cx="11473998" cy="620973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667601" y="1251001"/>
            <a:ext cx="4355999" cy="4355999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100C08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7006689" y="5677690"/>
            <a:ext cx="3655582" cy="649016"/>
            <a:chOff x="0" y="0"/>
            <a:chExt cx="6230508" cy="11061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231778" cy="1106170"/>
            </a:xfrm>
            <a:custGeom>
              <a:avLst/>
              <a:gdLst/>
              <a:ahLst/>
              <a:cxnLst/>
              <a:rect l="l" t="t" r="r" b="b"/>
              <a:pathLst>
                <a:path w="6231778" h="1106170">
                  <a:moveTo>
                    <a:pt x="5678058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5678058" y="0"/>
                  </a:lnTo>
                  <a:cubicBezTo>
                    <a:pt x="5984128" y="0"/>
                    <a:pt x="6231778" y="247650"/>
                    <a:pt x="6231778" y="553720"/>
                  </a:cubicBezTo>
                  <a:cubicBezTo>
                    <a:pt x="6230508" y="858520"/>
                    <a:pt x="5982858" y="1106170"/>
                    <a:pt x="5678058" y="1106170"/>
                  </a:cubicBezTo>
                  <a:close/>
                </a:path>
              </a:pathLst>
            </a:custGeom>
            <a:solidFill>
              <a:schemeClr val="accent5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100C08"/>
                </a:solidFill>
                <a:effectLst/>
                <a:uLnTx/>
                <a:uFillTx/>
                <a:latin typeface="Rotonda Medium"/>
                <a:ea typeface="+mn-ea"/>
                <a:cs typeface="+mn-cs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263277" y="5900238"/>
            <a:ext cx="3164643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71717"/>
                </a:solidFill>
                <a:effectLst/>
                <a:uLnTx/>
                <a:uFillTx/>
                <a:latin typeface="Rotonda Medium" panose="020F0602030203020204" pitchFamily="34" charset="0"/>
                <a:ea typeface="HK Grotesk Medium"/>
                <a:cs typeface="HK Grotesk Medium"/>
                <a:sym typeface="HK Grotesk Medium"/>
              </a:rPr>
              <a:t>Маша Черноярова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71717"/>
              </a:solidFill>
              <a:effectLst/>
              <a:uLnTx/>
              <a:uFillTx/>
              <a:latin typeface="Rotonda Medium" panose="020F0602030203020204" pitchFamily="34" charset="0"/>
              <a:ea typeface="HK Grotesk Medium"/>
              <a:cs typeface="HK Grotesk Medium"/>
              <a:sym typeface="HK Grotesk Medium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51EB080-B71C-43D7-A46E-671235654E0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3" r="13327" b="21040"/>
          <a:stretch/>
        </p:blipFill>
        <p:spPr>
          <a:xfrm>
            <a:off x="6817491" y="1391268"/>
            <a:ext cx="4056213" cy="4056213"/>
          </a:xfrm>
          <a:prstGeom prst="ellipse">
            <a:avLst/>
          </a:prstGeom>
        </p:spPr>
      </p:pic>
      <p:sp>
        <p:nvSpPr>
          <p:cNvPr id="16" name="Заголовок 2">
            <a:extLst>
              <a:ext uri="{FF2B5EF4-FFF2-40B4-BE49-F238E27FC236}">
                <a16:creationId xmlns:a16="http://schemas.microsoft.com/office/drawing/2014/main" id="{06781162-3340-4CF5-BB4F-882EE0D6D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857" y="3254307"/>
            <a:ext cx="6017832" cy="806399"/>
          </a:xfrm>
        </p:spPr>
        <p:txBody>
          <a:bodyPr>
            <a:noAutofit/>
          </a:bodyPr>
          <a:lstStyle/>
          <a:p>
            <a:r>
              <a:rPr lang="ru-RU" sz="9600" dirty="0"/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2467175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1F1A525-99AA-643B-7990-94BF0D5D3ACB}"/>
              </a:ext>
            </a:extLst>
          </p:cNvPr>
          <p:cNvSpPr/>
          <p:nvPr/>
        </p:nvSpPr>
        <p:spPr>
          <a:xfrm>
            <a:off x="407988" y="324132"/>
            <a:ext cx="11473998" cy="620973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667601" y="1251001"/>
            <a:ext cx="4355999" cy="4355999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100C08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7006689" y="5677690"/>
            <a:ext cx="3655582" cy="649016"/>
            <a:chOff x="0" y="0"/>
            <a:chExt cx="6230508" cy="11061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231778" cy="1106170"/>
            </a:xfrm>
            <a:custGeom>
              <a:avLst/>
              <a:gdLst/>
              <a:ahLst/>
              <a:cxnLst/>
              <a:rect l="l" t="t" r="r" b="b"/>
              <a:pathLst>
                <a:path w="6231778" h="1106170">
                  <a:moveTo>
                    <a:pt x="5678058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5678058" y="0"/>
                  </a:lnTo>
                  <a:cubicBezTo>
                    <a:pt x="5984128" y="0"/>
                    <a:pt x="6231778" y="247650"/>
                    <a:pt x="6231778" y="553720"/>
                  </a:cubicBezTo>
                  <a:cubicBezTo>
                    <a:pt x="6230508" y="858520"/>
                    <a:pt x="5982858" y="1106170"/>
                    <a:pt x="5678058" y="1106170"/>
                  </a:cubicBezTo>
                  <a:close/>
                </a:path>
              </a:pathLst>
            </a:custGeom>
            <a:solidFill>
              <a:schemeClr val="accent5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100C08"/>
                </a:solidFill>
                <a:effectLst/>
                <a:uLnTx/>
                <a:uFillTx/>
                <a:latin typeface="Rotonda Medium"/>
                <a:ea typeface="+mn-ea"/>
                <a:cs typeface="+mn-cs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263277" y="5900238"/>
            <a:ext cx="3164643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71717"/>
                </a:solidFill>
                <a:effectLst/>
                <a:uLnTx/>
                <a:uFillTx/>
                <a:latin typeface="Rotonda Medium" panose="020F0602030203020204" pitchFamily="34" charset="0"/>
                <a:ea typeface="HK Grotesk Medium"/>
                <a:cs typeface="HK Grotesk Medium"/>
                <a:sym typeface="HK Grotesk Medium"/>
              </a:rPr>
              <a:t>Юля Марич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71717"/>
              </a:solidFill>
              <a:effectLst/>
              <a:uLnTx/>
              <a:uFillTx/>
              <a:latin typeface="Rotonda Medium" panose="020F0602030203020204" pitchFamily="34" charset="0"/>
              <a:ea typeface="HK Grotesk Medium"/>
              <a:cs typeface="HK Grotesk Medium"/>
              <a:sym typeface="HK Grotesk Medium"/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4721DF0-B7E4-6015-670E-931D483433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29471" y="1555802"/>
            <a:ext cx="3827120" cy="4344436"/>
          </a:xfrm>
        </p:spPr>
        <p:txBody>
          <a:bodyPr>
            <a:normAutofit/>
          </a:bodyPr>
          <a:lstStyle/>
          <a:p>
            <a:endParaRPr lang="ru-RU" dirty="0"/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3C35496-BAEC-42B5-96DF-EB81F0DC8F3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78" b="15001"/>
          <a:stretch/>
        </p:blipFill>
        <p:spPr>
          <a:xfrm>
            <a:off x="6791152" y="1428636"/>
            <a:ext cx="4125052" cy="4000728"/>
          </a:xfrm>
          <a:prstGeom prst="ellipse">
            <a:avLst/>
          </a:prstGeom>
        </p:spPr>
      </p:pic>
      <p:sp>
        <p:nvSpPr>
          <p:cNvPr id="17" name="Заголовок 2">
            <a:extLst>
              <a:ext uri="{FF2B5EF4-FFF2-40B4-BE49-F238E27FC236}">
                <a16:creationId xmlns:a16="http://schemas.microsoft.com/office/drawing/2014/main" id="{B46F3365-68E5-4F1F-B37F-B0532CBD8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857" y="3254307"/>
            <a:ext cx="6017832" cy="806399"/>
          </a:xfrm>
        </p:spPr>
        <p:txBody>
          <a:bodyPr>
            <a:noAutofit/>
          </a:bodyPr>
          <a:lstStyle/>
          <a:p>
            <a:r>
              <a:rPr lang="ru-RU" sz="9600" dirty="0"/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1552111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1F1A525-99AA-643B-7990-94BF0D5D3ACB}"/>
              </a:ext>
            </a:extLst>
          </p:cNvPr>
          <p:cNvSpPr/>
          <p:nvPr/>
        </p:nvSpPr>
        <p:spPr>
          <a:xfrm>
            <a:off x="407988" y="324132"/>
            <a:ext cx="11473998" cy="620973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667601" y="1251001"/>
            <a:ext cx="4355999" cy="4355999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100C08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7006689" y="5677690"/>
            <a:ext cx="3655582" cy="649016"/>
            <a:chOff x="0" y="0"/>
            <a:chExt cx="6230508" cy="11061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231778" cy="1106170"/>
            </a:xfrm>
            <a:custGeom>
              <a:avLst/>
              <a:gdLst/>
              <a:ahLst/>
              <a:cxnLst/>
              <a:rect l="l" t="t" r="r" b="b"/>
              <a:pathLst>
                <a:path w="6231778" h="1106170">
                  <a:moveTo>
                    <a:pt x="5678058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5678058" y="0"/>
                  </a:lnTo>
                  <a:cubicBezTo>
                    <a:pt x="5984128" y="0"/>
                    <a:pt x="6231778" y="247650"/>
                    <a:pt x="6231778" y="553720"/>
                  </a:cubicBezTo>
                  <a:cubicBezTo>
                    <a:pt x="6230508" y="858520"/>
                    <a:pt x="5982858" y="1106170"/>
                    <a:pt x="5678058" y="1106170"/>
                  </a:cubicBezTo>
                  <a:close/>
                </a:path>
              </a:pathLst>
            </a:custGeom>
            <a:solidFill>
              <a:schemeClr val="accent5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100C08"/>
                </a:solidFill>
                <a:effectLst/>
                <a:uLnTx/>
                <a:uFillTx/>
                <a:latin typeface="Rotonda Medium"/>
                <a:ea typeface="+mn-ea"/>
                <a:cs typeface="+mn-cs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263277" y="5900238"/>
            <a:ext cx="3164643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71717"/>
                </a:solidFill>
                <a:effectLst/>
                <a:uLnTx/>
                <a:uFillTx/>
                <a:latin typeface="Rotonda Medium" panose="020F0602030203020204" pitchFamily="34" charset="0"/>
                <a:ea typeface="HK Grotesk Medium"/>
                <a:cs typeface="HK Grotesk Medium"/>
                <a:sym typeface="HK Grotesk Medium"/>
              </a:rPr>
              <a:t>Тамара Колесова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71717"/>
              </a:solidFill>
              <a:effectLst/>
              <a:uLnTx/>
              <a:uFillTx/>
              <a:latin typeface="Rotonda Medium" panose="020F0602030203020204" pitchFamily="34" charset="0"/>
              <a:ea typeface="HK Grotesk Medium"/>
              <a:cs typeface="HK Grotesk Medium"/>
              <a:sym typeface="HK Grotesk Medium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D38EEF4-7959-4668-BCC8-1A8C55ADA79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95" r="5144" b="21040"/>
          <a:stretch/>
        </p:blipFill>
        <p:spPr>
          <a:xfrm>
            <a:off x="6801933" y="1390624"/>
            <a:ext cx="4065838" cy="4065838"/>
          </a:xfrm>
          <a:prstGeom prst="ellipse">
            <a:avLst/>
          </a:prstGeom>
        </p:spPr>
      </p:pic>
      <p:sp>
        <p:nvSpPr>
          <p:cNvPr id="16" name="Заголовок 2">
            <a:extLst>
              <a:ext uri="{FF2B5EF4-FFF2-40B4-BE49-F238E27FC236}">
                <a16:creationId xmlns:a16="http://schemas.microsoft.com/office/drawing/2014/main" id="{AE01988D-54DB-422E-80AC-F6A63CF8B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857" y="3254307"/>
            <a:ext cx="6017832" cy="806399"/>
          </a:xfrm>
        </p:spPr>
        <p:txBody>
          <a:bodyPr>
            <a:noAutofit/>
          </a:bodyPr>
          <a:lstStyle/>
          <a:p>
            <a:r>
              <a:rPr lang="ru-RU" sz="9600" dirty="0"/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1576779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1F1A525-99AA-643B-7990-94BF0D5D3ACB}"/>
              </a:ext>
            </a:extLst>
          </p:cNvPr>
          <p:cNvSpPr/>
          <p:nvPr/>
        </p:nvSpPr>
        <p:spPr>
          <a:xfrm>
            <a:off x="407988" y="324132"/>
            <a:ext cx="11473998" cy="620973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667601" y="1251001"/>
            <a:ext cx="4355999" cy="4355999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100C08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7006689" y="5677690"/>
            <a:ext cx="3655582" cy="649016"/>
            <a:chOff x="0" y="0"/>
            <a:chExt cx="6230508" cy="11061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231778" cy="1106170"/>
            </a:xfrm>
            <a:custGeom>
              <a:avLst/>
              <a:gdLst/>
              <a:ahLst/>
              <a:cxnLst/>
              <a:rect l="l" t="t" r="r" b="b"/>
              <a:pathLst>
                <a:path w="6231778" h="1106170">
                  <a:moveTo>
                    <a:pt x="5678058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5678058" y="0"/>
                  </a:lnTo>
                  <a:cubicBezTo>
                    <a:pt x="5984128" y="0"/>
                    <a:pt x="6231778" y="247650"/>
                    <a:pt x="6231778" y="553720"/>
                  </a:cubicBezTo>
                  <a:cubicBezTo>
                    <a:pt x="6230508" y="858520"/>
                    <a:pt x="5982858" y="1106170"/>
                    <a:pt x="5678058" y="1106170"/>
                  </a:cubicBezTo>
                  <a:close/>
                </a:path>
              </a:pathLst>
            </a:custGeom>
            <a:solidFill>
              <a:schemeClr val="accent5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100C08"/>
                </a:solidFill>
                <a:effectLst/>
                <a:uLnTx/>
                <a:uFillTx/>
                <a:latin typeface="Rotonda Medium"/>
                <a:ea typeface="+mn-ea"/>
                <a:cs typeface="+mn-cs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263277" y="5900238"/>
            <a:ext cx="3164643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71717"/>
                </a:solidFill>
                <a:effectLst/>
                <a:uLnTx/>
                <a:uFillTx/>
                <a:latin typeface="Rotonda Medium" panose="020F0602030203020204" pitchFamily="34" charset="0"/>
                <a:ea typeface="HK Grotesk Medium"/>
                <a:cs typeface="HK Grotesk Medium"/>
                <a:sym typeface="HK Grotesk Medium"/>
              </a:rPr>
              <a:t>Ирина Золотарева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71717"/>
              </a:solidFill>
              <a:effectLst/>
              <a:uLnTx/>
              <a:uFillTx/>
              <a:latin typeface="Rotonda Medium" panose="020F0602030203020204" pitchFamily="34" charset="0"/>
              <a:ea typeface="HK Grotesk Medium"/>
              <a:cs typeface="HK Grotesk Medium"/>
              <a:sym typeface="HK Grotesk Medium"/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4721DF0-B7E4-6015-670E-931D483433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31621"/>
            <a:ext cx="3932238" cy="4795086"/>
          </a:xfrm>
        </p:spPr>
        <p:txBody>
          <a:bodyPr>
            <a:normAutofit/>
          </a:bodyPr>
          <a:lstStyle/>
          <a:p>
            <a:r>
              <a:rPr lang="ru-RU" dirty="0"/>
              <a:t> </a:t>
            </a:r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6C737CF-F8B8-402D-A26A-CA46A8D4E06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6" t="9106" r="17464" b="11934"/>
          <a:stretch/>
        </p:blipFill>
        <p:spPr>
          <a:xfrm>
            <a:off x="6811713" y="1406887"/>
            <a:ext cx="4044225" cy="4044225"/>
          </a:xfrm>
          <a:prstGeom prst="ellipse">
            <a:avLst/>
          </a:prstGeom>
        </p:spPr>
      </p:pic>
      <p:sp>
        <p:nvSpPr>
          <p:cNvPr id="16" name="Заголовок 2">
            <a:extLst>
              <a:ext uri="{FF2B5EF4-FFF2-40B4-BE49-F238E27FC236}">
                <a16:creationId xmlns:a16="http://schemas.microsoft.com/office/drawing/2014/main" id="{B2796C9E-0B92-4347-B588-C268B0AEB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857" y="3254307"/>
            <a:ext cx="6017832" cy="806399"/>
          </a:xfrm>
        </p:spPr>
        <p:txBody>
          <a:bodyPr>
            <a:noAutofit/>
          </a:bodyPr>
          <a:lstStyle/>
          <a:p>
            <a:r>
              <a:rPr lang="ru-RU" sz="9600" dirty="0"/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1294105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1F1A525-99AA-643B-7990-94BF0D5D3ACB}"/>
              </a:ext>
            </a:extLst>
          </p:cNvPr>
          <p:cNvSpPr/>
          <p:nvPr/>
        </p:nvSpPr>
        <p:spPr>
          <a:xfrm>
            <a:off x="407988" y="324132"/>
            <a:ext cx="11473998" cy="620973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667601" y="1251001"/>
            <a:ext cx="4355999" cy="4355999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100C08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7006689" y="5677690"/>
            <a:ext cx="3655582" cy="649016"/>
            <a:chOff x="0" y="0"/>
            <a:chExt cx="6230508" cy="11061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231778" cy="1106170"/>
            </a:xfrm>
            <a:custGeom>
              <a:avLst/>
              <a:gdLst/>
              <a:ahLst/>
              <a:cxnLst/>
              <a:rect l="l" t="t" r="r" b="b"/>
              <a:pathLst>
                <a:path w="6231778" h="1106170">
                  <a:moveTo>
                    <a:pt x="5678058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5678058" y="0"/>
                  </a:lnTo>
                  <a:cubicBezTo>
                    <a:pt x="5984128" y="0"/>
                    <a:pt x="6231778" y="247650"/>
                    <a:pt x="6231778" y="553720"/>
                  </a:cubicBezTo>
                  <a:cubicBezTo>
                    <a:pt x="6230508" y="858520"/>
                    <a:pt x="5982858" y="1106170"/>
                    <a:pt x="5678058" y="1106170"/>
                  </a:cubicBezTo>
                  <a:close/>
                </a:path>
              </a:pathLst>
            </a:custGeom>
            <a:solidFill>
              <a:schemeClr val="accent5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100C08"/>
                </a:solidFill>
                <a:effectLst/>
                <a:uLnTx/>
                <a:uFillTx/>
                <a:latin typeface="Rotonda Medium"/>
                <a:ea typeface="+mn-ea"/>
                <a:cs typeface="+mn-cs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263277" y="5900238"/>
            <a:ext cx="3164643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71717"/>
                </a:solidFill>
                <a:effectLst/>
                <a:uLnTx/>
                <a:uFillTx/>
                <a:latin typeface="Rotonda Medium" panose="020F0602030203020204" pitchFamily="34" charset="0"/>
                <a:ea typeface="HK Grotesk Medium"/>
                <a:cs typeface="HK Grotesk Medium"/>
                <a:sym typeface="HK Grotesk Medium"/>
              </a:rPr>
              <a:t>Настя Полянскова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71717"/>
              </a:solidFill>
              <a:effectLst/>
              <a:uLnTx/>
              <a:uFillTx/>
              <a:latin typeface="Rotonda Medium" panose="020F0602030203020204" pitchFamily="34" charset="0"/>
              <a:ea typeface="HK Grotesk Medium"/>
              <a:cs typeface="HK Grotesk Medium"/>
              <a:sym typeface="HK Grotesk Medium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B34785C-9946-47CB-A08D-28AD63F3275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85" t="487" r="11455" b="20553"/>
          <a:stretch/>
        </p:blipFill>
        <p:spPr>
          <a:xfrm>
            <a:off x="6868366" y="1451768"/>
            <a:ext cx="3954463" cy="3954463"/>
          </a:xfrm>
          <a:prstGeom prst="ellipse">
            <a:avLst/>
          </a:prstGeom>
        </p:spPr>
      </p:pic>
      <p:sp>
        <p:nvSpPr>
          <p:cNvPr id="21" name="Заголовок 2">
            <a:extLst>
              <a:ext uri="{FF2B5EF4-FFF2-40B4-BE49-F238E27FC236}">
                <a16:creationId xmlns:a16="http://schemas.microsoft.com/office/drawing/2014/main" id="{57101863-7AA1-4D49-B139-A4B568FE0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857" y="3254307"/>
            <a:ext cx="6017832" cy="806399"/>
          </a:xfrm>
        </p:spPr>
        <p:txBody>
          <a:bodyPr>
            <a:noAutofit/>
          </a:bodyPr>
          <a:lstStyle/>
          <a:p>
            <a:r>
              <a:rPr lang="ru-RU" sz="9600" dirty="0"/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2044265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1F1A525-99AA-643B-7990-94BF0D5D3ACB}"/>
              </a:ext>
            </a:extLst>
          </p:cNvPr>
          <p:cNvSpPr/>
          <p:nvPr/>
        </p:nvSpPr>
        <p:spPr>
          <a:xfrm>
            <a:off x="407988" y="324133"/>
            <a:ext cx="11473998" cy="620973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667601" y="1251001"/>
            <a:ext cx="4355999" cy="4355999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100C08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7006689" y="5677690"/>
            <a:ext cx="3655582" cy="649016"/>
            <a:chOff x="0" y="0"/>
            <a:chExt cx="6230508" cy="11061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231778" cy="1106170"/>
            </a:xfrm>
            <a:custGeom>
              <a:avLst/>
              <a:gdLst/>
              <a:ahLst/>
              <a:cxnLst/>
              <a:rect l="l" t="t" r="r" b="b"/>
              <a:pathLst>
                <a:path w="6231778" h="1106170">
                  <a:moveTo>
                    <a:pt x="5678058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5678058" y="0"/>
                  </a:lnTo>
                  <a:cubicBezTo>
                    <a:pt x="5984128" y="0"/>
                    <a:pt x="6231778" y="247650"/>
                    <a:pt x="6231778" y="553720"/>
                  </a:cubicBezTo>
                  <a:cubicBezTo>
                    <a:pt x="6230508" y="858520"/>
                    <a:pt x="5982858" y="1106170"/>
                    <a:pt x="5678058" y="1106170"/>
                  </a:cubicBezTo>
                  <a:close/>
                </a:path>
              </a:pathLst>
            </a:custGeom>
            <a:solidFill>
              <a:schemeClr val="accent5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100C08"/>
                </a:solidFill>
                <a:effectLst/>
                <a:uLnTx/>
                <a:uFillTx/>
                <a:latin typeface="Rotonda Medium"/>
                <a:ea typeface="+mn-ea"/>
                <a:cs typeface="+mn-cs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263277" y="5900238"/>
            <a:ext cx="3164643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71717"/>
                </a:solidFill>
                <a:effectLst/>
                <a:uLnTx/>
                <a:uFillTx/>
                <a:latin typeface="Rotonda Medium" panose="020F0602030203020204" pitchFamily="34" charset="0"/>
                <a:ea typeface="HK Grotesk Medium"/>
                <a:cs typeface="HK Grotesk Medium"/>
                <a:sym typeface="HK Grotesk Medium"/>
              </a:rPr>
              <a:t>Лида Кузьмина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71717"/>
              </a:solidFill>
              <a:effectLst/>
              <a:uLnTx/>
              <a:uFillTx/>
              <a:latin typeface="Rotonda Medium" panose="020F0602030203020204" pitchFamily="34" charset="0"/>
              <a:ea typeface="HK Grotesk Medium"/>
              <a:cs typeface="HK Grotesk Medium"/>
              <a:sym typeface="HK Grotesk Medium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6F7CE9C-4C95-4C99-9F91-6934E858F32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20" t="10520" r="10520" b="10520"/>
          <a:stretch/>
        </p:blipFill>
        <p:spPr>
          <a:xfrm>
            <a:off x="6871895" y="1453082"/>
            <a:ext cx="3947405" cy="3947405"/>
          </a:xfrm>
          <a:prstGeom prst="ellipse">
            <a:avLst/>
          </a:prstGeom>
        </p:spPr>
      </p:pic>
      <p:sp>
        <p:nvSpPr>
          <p:cNvPr id="16" name="Заголовок 2">
            <a:extLst>
              <a:ext uri="{FF2B5EF4-FFF2-40B4-BE49-F238E27FC236}">
                <a16:creationId xmlns:a16="http://schemas.microsoft.com/office/drawing/2014/main" id="{F7ADBE46-062F-4A90-934E-2888B6D8E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857" y="3254307"/>
            <a:ext cx="6017832" cy="806399"/>
          </a:xfrm>
        </p:spPr>
        <p:txBody>
          <a:bodyPr>
            <a:noAutofit/>
          </a:bodyPr>
          <a:lstStyle/>
          <a:p>
            <a:r>
              <a:rPr lang="ru-RU" sz="9600" dirty="0"/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3322116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1F1A525-99AA-643B-7990-94BF0D5D3ACB}"/>
              </a:ext>
            </a:extLst>
          </p:cNvPr>
          <p:cNvSpPr/>
          <p:nvPr/>
        </p:nvSpPr>
        <p:spPr>
          <a:xfrm>
            <a:off x="407988" y="324132"/>
            <a:ext cx="11473998" cy="620973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667601" y="1251001"/>
            <a:ext cx="4355999" cy="4355999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100C08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7006689" y="5677690"/>
            <a:ext cx="3655582" cy="649016"/>
            <a:chOff x="0" y="0"/>
            <a:chExt cx="6230508" cy="11061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231778" cy="1106170"/>
            </a:xfrm>
            <a:custGeom>
              <a:avLst/>
              <a:gdLst/>
              <a:ahLst/>
              <a:cxnLst/>
              <a:rect l="l" t="t" r="r" b="b"/>
              <a:pathLst>
                <a:path w="6231778" h="1106170">
                  <a:moveTo>
                    <a:pt x="5678058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5678058" y="0"/>
                  </a:lnTo>
                  <a:cubicBezTo>
                    <a:pt x="5984128" y="0"/>
                    <a:pt x="6231778" y="247650"/>
                    <a:pt x="6231778" y="553720"/>
                  </a:cubicBezTo>
                  <a:cubicBezTo>
                    <a:pt x="6230508" y="858520"/>
                    <a:pt x="5982858" y="1106170"/>
                    <a:pt x="5678058" y="1106170"/>
                  </a:cubicBezTo>
                  <a:close/>
                </a:path>
              </a:pathLst>
            </a:custGeom>
            <a:solidFill>
              <a:schemeClr val="accent5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100C08"/>
                </a:solidFill>
                <a:effectLst/>
                <a:uLnTx/>
                <a:uFillTx/>
                <a:latin typeface="Rotonda Medium"/>
                <a:ea typeface="+mn-ea"/>
                <a:cs typeface="+mn-cs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263277" y="5900238"/>
            <a:ext cx="3164643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71717"/>
                </a:solidFill>
                <a:effectLst/>
                <a:uLnTx/>
                <a:uFillTx/>
                <a:latin typeface="Rotonda Medium" panose="020F0602030203020204" pitchFamily="34" charset="0"/>
                <a:ea typeface="HK Grotesk Medium"/>
                <a:cs typeface="HK Grotesk Medium"/>
                <a:sym typeface="HK Grotesk Medium"/>
              </a:rPr>
              <a:t>Лиза Зайцева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71717"/>
              </a:solidFill>
              <a:effectLst/>
              <a:uLnTx/>
              <a:uFillTx/>
              <a:latin typeface="Rotonda Medium" panose="020F0602030203020204" pitchFamily="34" charset="0"/>
              <a:ea typeface="HK Grotesk Medium"/>
              <a:cs typeface="HK Grotesk Medium"/>
              <a:sym typeface="HK Grotesk Medium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F84391F-60E7-4F82-A44E-61E3C0F9C5D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67" t="-898" r="474" b="805"/>
          <a:stretch/>
        </p:blipFill>
        <p:spPr>
          <a:xfrm>
            <a:off x="6840170" y="1434317"/>
            <a:ext cx="3989364" cy="3989364"/>
          </a:xfrm>
          <a:prstGeom prst="ellipse">
            <a:avLst/>
          </a:prstGeom>
        </p:spPr>
      </p:pic>
      <p:sp>
        <p:nvSpPr>
          <p:cNvPr id="16" name="Заголовок 2">
            <a:extLst>
              <a:ext uri="{FF2B5EF4-FFF2-40B4-BE49-F238E27FC236}">
                <a16:creationId xmlns:a16="http://schemas.microsoft.com/office/drawing/2014/main" id="{C58CA1BD-A79E-49BC-9136-12D56B698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857" y="3254307"/>
            <a:ext cx="6017832" cy="806399"/>
          </a:xfrm>
        </p:spPr>
        <p:txBody>
          <a:bodyPr>
            <a:noAutofit/>
          </a:bodyPr>
          <a:lstStyle/>
          <a:p>
            <a:r>
              <a:rPr lang="ru-RU" sz="9600" dirty="0"/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1778439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1F1A525-99AA-643B-7990-94BF0D5D3ACB}"/>
              </a:ext>
            </a:extLst>
          </p:cNvPr>
          <p:cNvSpPr/>
          <p:nvPr/>
        </p:nvSpPr>
        <p:spPr>
          <a:xfrm>
            <a:off x="253371" y="387916"/>
            <a:ext cx="11473998" cy="620973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667601" y="1251001"/>
            <a:ext cx="4355999" cy="4355999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100C08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7006689" y="5677690"/>
            <a:ext cx="3655582" cy="649016"/>
            <a:chOff x="0" y="0"/>
            <a:chExt cx="6230508" cy="11061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231778" cy="1106170"/>
            </a:xfrm>
            <a:custGeom>
              <a:avLst/>
              <a:gdLst/>
              <a:ahLst/>
              <a:cxnLst/>
              <a:rect l="l" t="t" r="r" b="b"/>
              <a:pathLst>
                <a:path w="6231778" h="1106170">
                  <a:moveTo>
                    <a:pt x="5678058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5678058" y="0"/>
                  </a:lnTo>
                  <a:cubicBezTo>
                    <a:pt x="5984128" y="0"/>
                    <a:pt x="6231778" y="247650"/>
                    <a:pt x="6231778" y="553720"/>
                  </a:cubicBezTo>
                  <a:cubicBezTo>
                    <a:pt x="6230508" y="858520"/>
                    <a:pt x="5982858" y="1106170"/>
                    <a:pt x="5678058" y="1106170"/>
                  </a:cubicBezTo>
                  <a:close/>
                </a:path>
              </a:pathLst>
            </a:custGeom>
            <a:solidFill>
              <a:schemeClr val="accent5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100C08"/>
                </a:solidFill>
                <a:effectLst/>
                <a:uLnTx/>
                <a:uFillTx/>
                <a:latin typeface="Rotonda Medium"/>
                <a:ea typeface="+mn-ea"/>
                <a:cs typeface="+mn-cs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263277" y="5900238"/>
            <a:ext cx="3164643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71717"/>
                </a:solidFill>
                <a:effectLst/>
                <a:uLnTx/>
                <a:uFillTx/>
                <a:latin typeface="Rotonda Medium" panose="020F0602030203020204" pitchFamily="34" charset="0"/>
                <a:ea typeface="HK Grotesk Medium"/>
                <a:cs typeface="HK Grotesk Medium"/>
                <a:sym typeface="HK Grotesk Medium"/>
              </a:rPr>
              <a:t>Вика Медведева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71717"/>
              </a:solidFill>
              <a:effectLst/>
              <a:uLnTx/>
              <a:uFillTx/>
              <a:latin typeface="Rotonda Medium" panose="020F0602030203020204" pitchFamily="34" charset="0"/>
              <a:ea typeface="HK Grotesk Medium"/>
              <a:cs typeface="HK Grotesk Medium"/>
              <a:sym typeface="HK Grotesk Medium"/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4721DF0-B7E4-6015-670E-931D483433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2871" y="1780634"/>
            <a:ext cx="4227019" cy="4029447"/>
          </a:xfrm>
        </p:spPr>
        <p:txBody>
          <a:bodyPr>
            <a:normAutofit/>
          </a:bodyPr>
          <a:lstStyle/>
          <a:p>
            <a:pPr lvl="0"/>
            <a:r>
              <a:rPr lang="ru-RU" dirty="0"/>
              <a:t>.</a:t>
            </a:r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99B0833-E523-4AC8-A53C-3BA45B43013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" t="-1201" r="6060" b="8173"/>
          <a:stretch/>
        </p:blipFill>
        <p:spPr>
          <a:xfrm>
            <a:off x="6777870" y="1372018"/>
            <a:ext cx="4113964" cy="4113964"/>
          </a:xfrm>
          <a:prstGeom prst="ellipse">
            <a:avLst/>
          </a:prstGeom>
        </p:spPr>
      </p:pic>
      <p:sp>
        <p:nvSpPr>
          <p:cNvPr id="16" name="Заголовок 2">
            <a:extLst>
              <a:ext uri="{FF2B5EF4-FFF2-40B4-BE49-F238E27FC236}">
                <a16:creationId xmlns:a16="http://schemas.microsoft.com/office/drawing/2014/main" id="{34B44425-023E-488B-BF07-CB91791F5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857" y="3254307"/>
            <a:ext cx="6017832" cy="806399"/>
          </a:xfrm>
        </p:spPr>
        <p:txBody>
          <a:bodyPr>
            <a:noAutofit/>
          </a:bodyPr>
          <a:lstStyle/>
          <a:p>
            <a:r>
              <a:rPr lang="ru-RU" sz="9600" dirty="0"/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3485259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1F1A525-99AA-643B-7990-94BF0D5D3ACB}"/>
              </a:ext>
            </a:extLst>
          </p:cNvPr>
          <p:cNvSpPr/>
          <p:nvPr/>
        </p:nvSpPr>
        <p:spPr>
          <a:xfrm>
            <a:off x="407988" y="324132"/>
            <a:ext cx="11473998" cy="620973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667601" y="1251001"/>
            <a:ext cx="4355999" cy="4355999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100C08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7006689" y="5677690"/>
            <a:ext cx="3655582" cy="649016"/>
            <a:chOff x="0" y="0"/>
            <a:chExt cx="6230508" cy="11061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231778" cy="1106170"/>
            </a:xfrm>
            <a:custGeom>
              <a:avLst/>
              <a:gdLst/>
              <a:ahLst/>
              <a:cxnLst/>
              <a:rect l="l" t="t" r="r" b="b"/>
              <a:pathLst>
                <a:path w="6231778" h="1106170">
                  <a:moveTo>
                    <a:pt x="5678058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5678058" y="0"/>
                  </a:lnTo>
                  <a:cubicBezTo>
                    <a:pt x="5984128" y="0"/>
                    <a:pt x="6231778" y="247650"/>
                    <a:pt x="6231778" y="553720"/>
                  </a:cubicBezTo>
                  <a:cubicBezTo>
                    <a:pt x="6230508" y="858520"/>
                    <a:pt x="5982858" y="1106170"/>
                    <a:pt x="5678058" y="1106170"/>
                  </a:cubicBezTo>
                  <a:close/>
                </a:path>
              </a:pathLst>
            </a:custGeom>
            <a:solidFill>
              <a:schemeClr val="accent5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100C08"/>
                </a:solidFill>
                <a:effectLst/>
                <a:uLnTx/>
                <a:uFillTx/>
                <a:latin typeface="Rotonda Medium"/>
                <a:ea typeface="+mn-ea"/>
                <a:cs typeface="+mn-cs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263277" y="5900238"/>
            <a:ext cx="3164643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71717"/>
                </a:solidFill>
                <a:effectLst/>
                <a:uLnTx/>
                <a:uFillTx/>
                <a:latin typeface="Rotonda Medium" panose="020F0602030203020204" pitchFamily="34" charset="0"/>
                <a:ea typeface="HK Grotesk Medium"/>
                <a:cs typeface="HK Grotesk Medium"/>
                <a:sym typeface="HK Grotesk Medium"/>
              </a:rPr>
              <a:t>Таня Холодняк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71717"/>
              </a:solidFill>
              <a:effectLst/>
              <a:uLnTx/>
              <a:uFillTx/>
              <a:latin typeface="Rotonda Medium" panose="020F0602030203020204" pitchFamily="34" charset="0"/>
              <a:ea typeface="HK Grotesk Medium"/>
              <a:cs typeface="HK Grotesk Medium"/>
              <a:sym typeface="HK Grotesk Medium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ACC986B-FE5D-4B50-8AE8-E759A7A3101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8" t="1448" r="10846" b="16736"/>
          <a:stretch/>
        </p:blipFill>
        <p:spPr>
          <a:xfrm>
            <a:off x="6912623" y="1506771"/>
            <a:ext cx="3844457" cy="3844457"/>
          </a:xfrm>
          <a:prstGeom prst="ellipse">
            <a:avLst/>
          </a:prstGeom>
        </p:spPr>
      </p:pic>
      <p:sp>
        <p:nvSpPr>
          <p:cNvPr id="16" name="Заголовок 2">
            <a:extLst>
              <a:ext uri="{FF2B5EF4-FFF2-40B4-BE49-F238E27FC236}">
                <a16:creationId xmlns:a16="http://schemas.microsoft.com/office/drawing/2014/main" id="{DF638C64-A59A-4877-BDD2-76563BC1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857" y="3254307"/>
            <a:ext cx="6017832" cy="806399"/>
          </a:xfrm>
        </p:spPr>
        <p:txBody>
          <a:bodyPr>
            <a:noAutofit/>
          </a:bodyPr>
          <a:lstStyle/>
          <a:p>
            <a:r>
              <a:rPr lang="ru-RU" sz="9600" dirty="0"/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2970653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1F1A525-99AA-643B-7990-94BF0D5D3ACB}"/>
              </a:ext>
            </a:extLst>
          </p:cNvPr>
          <p:cNvSpPr/>
          <p:nvPr/>
        </p:nvSpPr>
        <p:spPr>
          <a:xfrm>
            <a:off x="407988" y="324132"/>
            <a:ext cx="11473998" cy="620973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667601" y="1251001"/>
            <a:ext cx="4355999" cy="4355999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100C08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7006689" y="5677690"/>
            <a:ext cx="3655582" cy="649016"/>
            <a:chOff x="0" y="0"/>
            <a:chExt cx="6230508" cy="11061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231778" cy="1106170"/>
            </a:xfrm>
            <a:custGeom>
              <a:avLst/>
              <a:gdLst/>
              <a:ahLst/>
              <a:cxnLst/>
              <a:rect l="l" t="t" r="r" b="b"/>
              <a:pathLst>
                <a:path w="6231778" h="1106170">
                  <a:moveTo>
                    <a:pt x="5678058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5678058" y="0"/>
                  </a:lnTo>
                  <a:cubicBezTo>
                    <a:pt x="5984128" y="0"/>
                    <a:pt x="6231778" y="247650"/>
                    <a:pt x="6231778" y="553720"/>
                  </a:cubicBezTo>
                  <a:cubicBezTo>
                    <a:pt x="6230508" y="858520"/>
                    <a:pt x="5982858" y="1106170"/>
                    <a:pt x="5678058" y="1106170"/>
                  </a:cubicBezTo>
                  <a:close/>
                </a:path>
              </a:pathLst>
            </a:custGeom>
            <a:solidFill>
              <a:schemeClr val="accent5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100C08"/>
                </a:solidFill>
                <a:effectLst/>
                <a:uLnTx/>
                <a:uFillTx/>
                <a:latin typeface="Rotonda Medium"/>
                <a:ea typeface="+mn-ea"/>
                <a:cs typeface="+mn-cs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263277" y="5900238"/>
            <a:ext cx="3164643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71717"/>
                </a:solidFill>
                <a:effectLst/>
                <a:uLnTx/>
                <a:uFillTx/>
                <a:latin typeface="Rotonda Medium" panose="020F0602030203020204" pitchFamily="34" charset="0"/>
                <a:ea typeface="HK Grotesk Medium"/>
                <a:cs typeface="HK Grotesk Medium"/>
                <a:sym typeface="HK Grotesk Medium"/>
              </a:rPr>
              <a:t>Тина Тихонова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71717"/>
              </a:solidFill>
              <a:effectLst/>
              <a:uLnTx/>
              <a:uFillTx/>
              <a:latin typeface="Rotonda Medium" panose="020F0602030203020204" pitchFamily="34" charset="0"/>
              <a:ea typeface="HK Grotesk Medium"/>
              <a:cs typeface="HK Grotesk Medium"/>
              <a:sym typeface="HK Grotesk Medium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9BC90A7-6F8D-4C7E-AD3C-80C611DB2D8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1" r="4169" b="5719"/>
          <a:stretch/>
        </p:blipFill>
        <p:spPr>
          <a:xfrm>
            <a:off x="6828963" y="1381916"/>
            <a:ext cx="4033269" cy="4033269"/>
          </a:xfrm>
          <a:prstGeom prst="ellipse">
            <a:avLst/>
          </a:prstGeom>
        </p:spPr>
      </p:pic>
      <p:sp>
        <p:nvSpPr>
          <p:cNvPr id="16" name="Заголовок 2">
            <a:extLst>
              <a:ext uri="{FF2B5EF4-FFF2-40B4-BE49-F238E27FC236}">
                <a16:creationId xmlns:a16="http://schemas.microsoft.com/office/drawing/2014/main" id="{88E8D6EA-7FD7-40DE-B9A8-901485E9B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857" y="3254307"/>
            <a:ext cx="6017832" cy="806399"/>
          </a:xfrm>
        </p:spPr>
        <p:txBody>
          <a:bodyPr>
            <a:noAutofit/>
          </a:bodyPr>
          <a:lstStyle/>
          <a:p>
            <a:r>
              <a:rPr lang="ru-RU" sz="9600" dirty="0"/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1164849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1F1A525-99AA-643B-7990-94BF0D5D3ACB}"/>
              </a:ext>
            </a:extLst>
          </p:cNvPr>
          <p:cNvSpPr/>
          <p:nvPr/>
        </p:nvSpPr>
        <p:spPr>
          <a:xfrm>
            <a:off x="407988" y="324132"/>
            <a:ext cx="11473998" cy="620973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667601" y="1251001"/>
            <a:ext cx="4355999" cy="4355999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100C08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7006689" y="5677690"/>
            <a:ext cx="3655582" cy="649016"/>
            <a:chOff x="0" y="0"/>
            <a:chExt cx="6230508" cy="11061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231778" cy="1106170"/>
            </a:xfrm>
            <a:custGeom>
              <a:avLst/>
              <a:gdLst/>
              <a:ahLst/>
              <a:cxnLst/>
              <a:rect l="l" t="t" r="r" b="b"/>
              <a:pathLst>
                <a:path w="6231778" h="1106170">
                  <a:moveTo>
                    <a:pt x="5678058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5678058" y="0"/>
                  </a:lnTo>
                  <a:cubicBezTo>
                    <a:pt x="5984128" y="0"/>
                    <a:pt x="6231778" y="247650"/>
                    <a:pt x="6231778" y="553720"/>
                  </a:cubicBezTo>
                  <a:cubicBezTo>
                    <a:pt x="6230508" y="858520"/>
                    <a:pt x="5982858" y="1106170"/>
                    <a:pt x="5678058" y="1106170"/>
                  </a:cubicBezTo>
                  <a:close/>
                </a:path>
              </a:pathLst>
            </a:custGeom>
            <a:solidFill>
              <a:schemeClr val="accent5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100C08"/>
                </a:solidFill>
                <a:effectLst/>
                <a:uLnTx/>
                <a:uFillTx/>
                <a:latin typeface="Rotonda Medium"/>
                <a:ea typeface="+mn-ea"/>
                <a:cs typeface="+mn-cs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263277" y="5900238"/>
            <a:ext cx="3164643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71717"/>
                </a:solidFill>
                <a:effectLst/>
                <a:uLnTx/>
                <a:uFillTx/>
                <a:latin typeface="Rotonda Medium" panose="020F0602030203020204" pitchFamily="34" charset="0"/>
                <a:ea typeface="HK Grotesk Medium"/>
                <a:cs typeface="HK Grotesk Medium"/>
                <a:sym typeface="HK Grotesk Medium"/>
              </a:rPr>
              <a:t>Оля Николаева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71717"/>
              </a:solidFill>
              <a:effectLst/>
              <a:uLnTx/>
              <a:uFillTx/>
              <a:latin typeface="Rotonda Medium" panose="020F0602030203020204" pitchFamily="34" charset="0"/>
              <a:ea typeface="HK Grotesk Medium"/>
              <a:cs typeface="HK Grotesk Medium"/>
              <a:sym typeface="HK Grotesk Medium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0CC4A53-D75B-4AE3-B04C-EE279AF5104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38" t="20405" r="-698" b="635"/>
          <a:stretch/>
        </p:blipFill>
        <p:spPr>
          <a:xfrm>
            <a:off x="6817073" y="1395871"/>
            <a:ext cx="4066257" cy="4066257"/>
          </a:xfrm>
          <a:prstGeom prst="ellipse">
            <a:avLst/>
          </a:prstGeom>
        </p:spPr>
      </p:pic>
      <p:sp>
        <p:nvSpPr>
          <p:cNvPr id="16" name="Заголовок 2">
            <a:extLst>
              <a:ext uri="{FF2B5EF4-FFF2-40B4-BE49-F238E27FC236}">
                <a16:creationId xmlns:a16="http://schemas.microsoft.com/office/drawing/2014/main" id="{0DCA5EAD-46E5-4E1C-B813-587143FDE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857" y="3254307"/>
            <a:ext cx="6017832" cy="806399"/>
          </a:xfrm>
        </p:spPr>
        <p:txBody>
          <a:bodyPr>
            <a:noAutofit/>
          </a:bodyPr>
          <a:lstStyle/>
          <a:p>
            <a:r>
              <a:rPr lang="ru-RU" sz="9600" dirty="0"/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1222740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1F1A525-99AA-643B-7990-94BF0D5D3ACB}"/>
              </a:ext>
            </a:extLst>
          </p:cNvPr>
          <p:cNvSpPr/>
          <p:nvPr/>
        </p:nvSpPr>
        <p:spPr>
          <a:xfrm>
            <a:off x="407988" y="324132"/>
            <a:ext cx="11473998" cy="620973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667601" y="1251001"/>
            <a:ext cx="4355999" cy="4355999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100C08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7006689" y="5677690"/>
            <a:ext cx="3655582" cy="649016"/>
            <a:chOff x="0" y="0"/>
            <a:chExt cx="6230508" cy="11061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231778" cy="1106170"/>
            </a:xfrm>
            <a:custGeom>
              <a:avLst/>
              <a:gdLst/>
              <a:ahLst/>
              <a:cxnLst/>
              <a:rect l="l" t="t" r="r" b="b"/>
              <a:pathLst>
                <a:path w="6231778" h="1106170">
                  <a:moveTo>
                    <a:pt x="5678058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5678058" y="0"/>
                  </a:lnTo>
                  <a:cubicBezTo>
                    <a:pt x="5984128" y="0"/>
                    <a:pt x="6231778" y="247650"/>
                    <a:pt x="6231778" y="553720"/>
                  </a:cubicBezTo>
                  <a:cubicBezTo>
                    <a:pt x="6230508" y="858520"/>
                    <a:pt x="5982858" y="1106170"/>
                    <a:pt x="5678058" y="1106170"/>
                  </a:cubicBezTo>
                  <a:close/>
                </a:path>
              </a:pathLst>
            </a:custGeom>
            <a:solidFill>
              <a:schemeClr val="accent5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100C08"/>
                </a:solidFill>
                <a:effectLst/>
                <a:uLnTx/>
                <a:uFillTx/>
                <a:latin typeface="Rotonda Medium"/>
                <a:ea typeface="+mn-ea"/>
                <a:cs typeface="+mn-cs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263277" y="5900238"/>
            <a:ext cx="3164643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71717"/>
                </a:solidFill>
                <a:effectLst/>
                <a:uLnTx/>
                <a:uFillTx/>
                <a:latin typeface="Rotonda Medium" panose="020F0602030203020204" pitchFamily="34" charset="0"/>
                <a:ea typeface="HK Grotesk Medium"/>
                <a:cs typeface="HK Grotesk Medium"/>
                <a:sym typeface="HK Grotesk Medium"/>
              </a:rPr>
              <a:t>Юля Королева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71717"/>
              </a:solidFill>
              <a:effectLst/>
              <a:uLnTx/>
              <a:uFillTx/>
              <a:latin typeface="Rotonda Medium" panose="020F0602030203020204" pitchFamily="34" charset="0"/>
              <a:ea typeface="HK Grotesk Medium"/>
              <a:cs typeface="HK Grotesk Medium"/>
              <a:sym typeface="HK Grotesk Medium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F296D4D-7042-4DBB-8C5A-507F4FA503F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" t="-1216" r="-888" b="808"/>
          <a:stretch/>
        </p:blipFill>
        <p:spPr>
          <a:xfrm>
            <a:off x="6857620" y="1451767"/>
            <a:ext cx="3954463" cy="3954463"/>
          </a:xfrm>
          <a:prstGeom prst="ellipse">
            <a:avLst/>
          </a:prstGeom>
        </p:spPr>
      </p:pic>
      <p:sp>
        <p:nvSpPr>
          <p:cNvPr id="16" name="Заголовок 2">
            <a:extLst>
              <a:ext uri="{FF2B5EF4-FFF2-40B4-BE49-F238E27FC236}">
                <a16:creationId xmlns:a16="http://schemas.microsoft.com/office/drawing/2014/main" id="{00985456-B5D9-44A8-8A8E-A38271EA8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857" y="3254307"/>
            <a:ext cx="6017832" cy="806399"/>
          </a:xfrm>
        </p:spPr>
        <p:txBody>
          <a:bodyPr>
            <a:noAutofit/>
          </a:bodyPr>
          <a:lstStyle/>
          <a:p>
            <a:r>
              <a:rPr lang="ru-RU" sz="9600" dirty="0"/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3710483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1F1A525-99AA-643B-7990-94BF0D5D3ACB}"/>
              </a:ext>
            </a:extLst>
          </p:cNvPr>
          <p:cNvSpPr/>
          <p:nvPr/>
        </p:nvSpPr>
        <p:spPr>
          <a:xfrm>
            <a:off x="407988" y="324132"/>
            <a:ext cx="11473998" cy="620973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667601" y="1251001"/>
            <a:ext cx="4355999" cy="4355999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100C08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7006689" y="5677690"/>
            <a:ext cx="3655582" cy="649016"/>
            <a:chOff x="0" y="0"/>
            <a:chExt cx="6230508" cy="11061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231778" cy="1106170"/>
            </a:xfrm>
            <a:custGeom>
              <a:avLst/>
              <a:gdLst/>
              <a:ahLst/>
              <a:cxnLst/>
              <a:rect l="l" t="t" r="r" b="b"/>
              <a:pathLst>
                <a:path w="6231778" h="1106170">
                  <a:moveTo>
                    <a:pt x="5678058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5678058" y="0"/>
                  </a:lnTo>
                  <a:cubicBezTo>
                    <a:pt x="5984128" y="0"/>
                    <a:pt x="6231778" y="247650"/>
                    <a:pt x="6231778" y="553720"/>
                  </a:cubicBezTo>
                  <a:cubicBezTo>
                    <a:pt x="6230508" y="858520"/>
                    <a:pt x="5982858" y="1106170"/>
                    <a:pt x="5678058" y="1106170"/>
                  </a:cubicBezTo>
                  <a:close/>
                </a:path>
              </a:pathLst>
            </a:custGeom>
            <a:solidFill>
              <a:schemeClr val="accent5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100C08"/>
                </a:solidFill>
                <a:effectLst/>
                <a:uLnTx/>
                <a:uFillTx/>
                <a:latin typeface="Rotonda Medium"/>
                <a:ea typeface="+mn-ea"/>
                <a:cs typeface="+mn-cs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263277" y="5900238"/>
            <a:ext cx="3164643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71717"/>
                </a:solidFill>
                <a:effectLst/>
                <a:uLnTx/>
                <a:uFillTx/>
                <a:latin typeface="Rotonda Medium" panose="020F0602030203020204" pitchFamily="34" charset="0"/>
                <a:ea typeface="HK Grotesk Medium"/>
                <a:cs typeface="HK Grotesk Medium"/>
                <a:sym typeface="HK Grotesk Medium"/>
              </a:rPr>
              <a:t>Ирина Иванова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71717"/>
              </a:solidFill>
              <a:effectLst/>
              <a:uLnTx/>
              <a:uFillTx/>
              <a:latin typeface="Rotonda Medium" panose="020F0602030203020204" pitchFamily="34" charset="0"/>
              <a:ea typeface="HK Grotesk Medium"/>
              <a:cs typeface="HK Grotesk Medium"/>
              <a:sym typeface="HK Grotesk Medium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FC6EA1E-3602-4357-B246-0E2E4E91031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98" t="6892" r="22065" b="42470"/>
          <a:stretch/>
        </p:blipFill>
        <p:spPr>
          <a:xfrm>
            <a:off x="6865605" y="1449006"/>
            <a:ext cx="3959986" cy="3959986"/>
          </a:xfrm>
          <a:prstGeom prst="ellipse">
            <a:avLst/>
          </a:prstGeom>
        </p:spPr>
      </p:pic>
      <p:sp>
        <p:nvSpPr>
          <p:cNvPr id="16" name="Заголовок 2">
            <a:extLst>
              <a:ext uri="{FF2B5EF4-FFF2-40B4-BE49-F238E27FC236}">
                <a16:creationId xmlns:a16="http://schemas.microsoft.com/office/drawing/2014/main" id="{E7733255-2950-4E55-AA7D-53EE4DB3F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857" y="3254307"/>
            <a:ext cx="6017832" cy="806399"/>
          </a:xfrm>
        </p:spPr>
        <p:txBody>
          <a:bodyPr>
            <a:noAutofit/>
          </a:bodyPr>
          <a:lstStyle/>
          <a:p>
            <a:r>
              <a:rPr lang="ru-RU" sz="9600" dirty="0"/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2319761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1F1A525-99AA-643B-7990-94BF0D5D3ACB}"/>
              </a:ext>
            </a:extLst>
          </p:cNvPr>
          <p:cNvSpPr/>
          <p:nvPr/>
        </p:nvSpPr>
        <p:spPr>
          <a:xfrm>
            <a:off x="407988" y="324132"/>
            <a:ext cx="11473998" cy="620973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667601" y="1251001"/>
            <a:ext cx="4355999" cy="4355999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100C08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7006689" y="5677690"/>
            <a:ext cx="3655582" cy="649016"/>
            <a:chOff x="0" y="0"/>
            <a:chExt cx="6230508" cy="11061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231778" cy="1106170"/>
            </a:xfrm>
            <a:custGeom>
              <a:avLst/>
              <a:gdLst/>
              <a:ahLst/>
              <a:cxnLst/>
              <a:rect l="l" t="t" r="r" b="b"/>
              <a:pathLst>
                <a:path w="6231778" h="1106170">
                  <a:moveTo>
                    <a:pt x="5678058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5678058" y="0"/>
                  </a:lnTo>
                  <a:cubicBezTo>
                    <a:pt x="5984128" y="0"/>
                    <a:pt x="6231778" y="247650"/>
                    <a:pt x="6231778" y="553720"/>
                  </a:cubicBezTo>
                  <a:cubicBezTo>
                    <a:pt x="6230508" y="858520"/>
                    <a:pt x="5982858" y="1106170"/>
                    <a:pt x="5678058" y="1106170"/>
                  </a:cubicBezTo>
                  <a:close/>
                </a:path>
              </a:pathLst>
            </a:custGeom>
            <a:solidFill>
              <a:schemeClr val="accent5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100C08"/>
                </a:solidFill>
                <a:effectLst/>
                <a:uLnTx/>
                <a:uFillTx/>
                <a:latin typeface="Rotonda Medium"/>
                <a:ea typeface="+mn-ea"/>
                <a:cs typeface="+mn-cs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263277" y="5900238"/>
            <a:ext cx="3164643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71717"/>
                </a:solidFill>
                <a:effectLst/>
                <a:uLnTx/>
                <a:uFillTx/>
                <a:latin typeface="Rotonda Medium" panose="020F0602030203020204" pitchFamily="34" charset="0"/>
                <a:ea typeface="HK Grotesk Medium"/>
                <a:cs typeface="HK Grotesk Medium"/>
                <a:sym typeface="HK Grotesk Medium"/>
              </a:rPr>
              <a:t>Аня Богатырева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71717"/>
              </a:solidFill>
              <a:effectLst/>
              <a:uLnTx/>
              <a:uFillTx/>
              <a:latin typeface="Rotonda Medium" panose="020F0602030203020204" pitchFamily="34" charset="0"/>
              <a:ea typeface="HK Grotesk Medium"/>
              <a:cs typeface="HK Grotesk Medium"/>
              <a:sym typeface="HK Grotesk Medium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C5826B0-AAE3-4116-A6DA-AC728117571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20" t="10520" r="10520" b="10520"/>
          <a:stretch/>
        </p:blipFill>
        <p:spPr>
          <a:xfrm>
            <a:off x="6884375" y="1467777"/>
            <a:ext cx="3922445" cy="3922445"/>
          </a:xfrm>
          <a:prstGeom prst="ellipse">
            <a:avLst/>
          </a:prstGeom>
        </p:spPr>
      </p:pic>
      <p:sp>
        <p:nvSpPr>
          <p:cNvPr id="16" name="Заголовок 2">
            <a:extLst>
              <a:ext uri="{FF2B5EF4-FFF2-40B4-BE49-F238E27FC236}">
                <a16:creationId xmlns:a16="http://schemas.microsoft.com/office/drawing/2014/main" id="{5BCB70C7-A153-458A-88B7-C041B4CFD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857" y="3254307"/>
            <a:ext cx="6017832" cy="806399"/>
          </a:xfrm>
        </p:spPr>
        <p:txBody>
          <a:bodyPr>
            <a:noAutofit/>
          </a:bodyPr>
          <a:lstStyle/>
          <a:p>
            <a:r>
              <a:rPr lang="ru-RU" sz="9600" dirty="0"/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2518545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1F1A525-99AA-643B-7990-94BF0D5D3ACB}"/>
              </a:ext>
            </a:extLst>
          </p:cNvPr>
          <p:cNvSpPr/>
          <p:nvPr/>
        </p:nvSpPr>
        <p:spPr>
          <a:xfrm>
            <a:off x="310015" y="324133"/>
            <a:ext cx="11473998" cy="620973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667601" y="1251001"/>
            <a:ext cx="4355999" cy="4355999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100C08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7006689" y="5677690"/>
            <a:ext cx="3655582" cy="649016"/>
            <a:chOff x="0" y="0"/>
            <a:chExt cx="6230508" cy="11061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231778" cy="1106170"/>
            </a:xfrm>
            <a:custGeom>
              <a:avLst/>
              <a:gdLst/>
              <a:ahLst/>
              <a:cxnLst/>
              <a:rect l="l" t="t" r="r" b="b"/>
              <a:pathLst>
                <a:path w="6231778" h="1106170">
                  <a:moveTo>
                    <a:pt x="5678058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5678058" y="0"/>
                  </a:lnTo>
                  <a:cubicBezTo>
                    <a:pt x="5984128" y="0"/>
                    <a:pt x="6231778" y="247650"/>
                    <a:pt x="6231778" y="553720"/>
                  </a:cubicBezTo>
                  <a:cubicBezTo>
                    <a:pt x="6230508" y="858520"/>
                    <a:pt x="5982858" y="1106170"/>
                    <a:pt x="5678058" y="1106170"/>
                  </a:cubicBezTo>
                  <a:close/>
                </a:path>
              </a:pathLst>
            </a:custGeom>
            <a:solidFill>
              <a:schemeClr val="accent5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100C08"/>
                </a:solidFill>
                <a:effectLst/>
                <a:uLnTx/>
                <a:uFillTx/>
                <a:latin typeface="Rotonda Medium"/>
                <a:ea typeface="+mn-ea"/>
                <a:cs typeface="+mn-cs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263277" y="5900238"/>
            <a:ext cx="3164643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71717"/>
                </a:solidFill>
                <a:effectLst/>
                <a:uLnTx/>
                <a:uFillTx/>
                <a:latin typeface="Rotonda Medium" panose="020F0602030203020204" pitchFamily="34" charset="0"/>
                <a:ea typeface="HK Grotesk Medium"/>
                <a:cs typeface="HK Grotesk Medium"/>
                <a:sym typeface="HK Grotesk Medium"/>
              </a:rPr>
              <a:t>Юля Тамилина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71717"/>
              </a:solidFill>
              <a:effectLst/>
              <a:uLnTx/>
              <a:uFillTx/>
              <a:latin typeface="Rotonda Medium" panose="020F0602030203020204" pitchFamily="34" charset="0"/>
              <a:ea typeface="HK Grotesk Medium"/>
              <a:cs typeface="HK Grotesk Medium"/>
              <a:sym typeface="HK Grotesk Medium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393DEC9-35C8-413A-8BB2-666EB76E234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20" t="10520" r="10520" b="10520"/>
          <a:stretch/>
        </p:blipFill>
        <p:spPr>
          <a:xfrm>
            <a:off x="6800107" y="1451768"/>
            <a:ext cx="3954463" cy="3954463"/>
          </a:xfrm>
          <a:prstGeom prst="ellipse">
            <a:avLst/>
          </a:prstGeom>
        </p:spPr>
      </p:pic>
      <p:sp>
        <p:nvSpPr>
          <p:cNvPr id="16" name="Заголовок 2">
            <a:extLst>
              <a:ext uri="{FF2B5EF4-FFF2-40B4-BE49-F238E27FC236}">
                <a16:creationId xmlns:a16="http://schemas.microsoft.com/office/drawing/2014/main" id="{9CE2A18A-AAA5-4527-AD13-7AD4FA936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857" y="3254307"/>
            <a:ext cx="6017832" cy="806399"/>
          </a:xfrm>
        </p:spPr>
        <p:txBody>
          <a:bodyPr>
            <a:noAutofit/>
          </a:bodyPr>
          <a:lstStyle/>
          <a:p>
            <a:r>
              <a:rPr lang="ru-RU" sz="9600" dirty="0"/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795243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1F1A525-99AA-643B-7990-94BF0D5D3ACB}"/>
              </a:ext>
            </a:extLst>
          </p:cNvPr>
          <p:cNvSpPr/>
          <p:nvPr/>
        </p:nvSpPr>
        <p:spPr>
          <a:xfrm>
            <a:off x="407988" y="324132"/>
            <a:ext cx="11473998" cy="620973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667601" y="1251001"/>
            <a:ext cx="4355999" cy="4355999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100C08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7006689" y="5677690"/>
            <a:ext cx="3655582" cy="649016"/>
            <a:chOff x="0" y="0"/>
            <a:chExt cx="6230508" cy="11061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231778" cy="1106170"/>
            </a:xfrm>
            <a:custGeom>
              <a:avLst/>
              <a:gdLst/>
              <a:ahLst/>
              <a:cxnLst/>
              <a:rect l="l" t="t" r="r" b="b"/>
              <a:pathLst>
                <a:path w="6231778" h="1106170">
                  <a:moveTo>
                    <a:pt x="5678058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5678058" y="0"/>
                  </a:lnTo>
                  <a:cubicBezTo>
                    <a:pt x="5984128" y="0"/>
                    <a:pt x="6231778" y="247650"/>
                    <a:pt x="6231778" y="553720"/>
                  </a:cubicBezTo>
                  <a:cubicBezTo>
                    <a:pt x="6230508" y="858520"/>
                    <a:pt x="5982858" y="1106170"/>
                    <a:pt x="5678058" y="1106170"/>
                  </a:cubicBezTo>
                  <a:close/>
                </a:path>
              </a:pathLst>
            </a:custGeom>
            <a:solidFill>
              <a:schemeClr val="accent5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100C08"/>
                </a:solidFill>
                <a:effectLst/>
                <a:uLnTx/>
                <a:uFillTx/>
                <a:latin typeface="Rotonda Medium"/>
                <a:ea typeface="+mn-ea"/>
                <a:cs typeface="+mn-cs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263277" y="5900238"/>
            <a:ext cx="3164643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71717"/>
                </a:solidFill>
                <a:effectLst/>
                <a:uLnTx/>
                <a:uFillTx/>
                <a:latin typeface="Rotonda Medium" panose="020F0602030203020204" pitchFamily="34" charset="0"/>
                <a:ea typeface="HK Grotesk Medium"/>
                <a:cs typeface="HK Grotesk Medium"/>
                <a:sym typeface="HK Grotesk Medium"/>
              </a:rPr>
              <a:t>Галя Усцелемова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71717"/>
              </a:solidFill>
              <a:effectLst/>
              <a:uLnTx/>
              <a:uFillTx/>
              <a:latin typeface="Rotonda Medium" panose="020F0602030203020204" pitchFamily="34" charset="0"/>
              <a:ea typeface="HK Grotesk Medium"/>
              <a:cs typeface="HK Grotesk Medium"/>
              <a:sym typeface="HK Grotesk Medium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036075C-B3B3-4DA0-9A7D-41DDBA77CEC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5" t="4272" r="10855" b="16768"/>
          <a:stretch/>
        </p:blipFill>
        <p:spPr>
          <a:xfrm>
            <a:off x="6831929" y="1415331"/>
            <a:ext cx="4027337" cy="4027337"/>
          </a:xfrm>
          <a:prstGeom prst="ellipse">
            <a:avLst/>
          </a:prstGeom>
        </p:spPr>
      </p:pic>
      <p:sp>
        <p:nvSpPr>
          <p:cNvPr id="21" name="Заголовок 2">
            <a:extLst>
              <a:ext uri="{FF2B5EF4-FFF2-40B4-BE49-F238E27FC236}">
                <a16:creationId xmlns:a16="http://schemas.microsoft.com/office/drawing/2014/main" id="{168EE95E-07EC-464D-A9B5-A8D29D8D7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857" y="3254307"/>
            <a:ext cx="6017832" cy="806399"/>
          </a:xfrm>
        </p:spPr>
        <p:txBody>
          <a:bodyPr>
            <a:noAutofit/>
          </a:bodyPr>
          <a:lstStyle/>
          <a:p>
            <a:r>
              <a:rPr lang="ru-RU" sz="9600" dirty="0"/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3819794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1F1A525-99AA-643B-7990-94BF0D5D3ACB}"/>
              </a:ext>
            </a:extLst>
          </p:cNvPr>
          <p:cNvSpPr/>
          <p:nvPr/>
        </p:nvSpPr>
        <p:spPr>
          <a:xfrm>
            <a:off x="407988" y="324132"/>
            <a:ext cx="11473998" cy="620973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667601" y="1251001"/>
            <a:ext cx="4355999" cy="4355999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100C08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7006689" y="5677690"/>
            <a:ext cx="3655582" cy="649016"/>
            <a:chOff x="0" y="0"/>
            <a:chExt cx="6230508" cy="11061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231778" cy="1106170"/>
            </a:xfrm>
            <a:custGeom>
              <a:avLst/>
              <a:gdLst/>
              <a:ahLst/>
              <a:cxnLst/>
              <a:rect l="l" t="t" r="r" b="b"/>
              <a:pathLst>
                <a:path w="6231778" h="1106170">
                  <a:moveTo>
                    <a:pt x="5678058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5678058" y="0"/>
                  </a:lnTo>
                  <a:cubicBezTo>
                    <a:pt x="5984128" y="0"/>
                    <a:pt x="6231778" y="247650"/>
                    <a:pt x="6231778" y="553720"/>
                  </a:cubicBezTo>
                  <a:cubicBezTo>
                    <a:pt x="6230508" y="858520"/>
                    <a:pt x="5982858" y="1106170"/>
                    <a:pt x="5678058" y="1106170"/>
                  </a:cubicBezTo>
                  <a:close/>
                </a:path>
              </a:pathLst>
            </a:custGeom>
            <a:solidFill>
              <a:schemeClr val="accent5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100C08"/>
                </a:solidFill>
                <a:effectLst/>
                <a:uLnTx/>
                <a:uFillTx/>
                <a:latin typeface="Rotonda Medium"/>
                <a:ea typeface="+mn-ea"/>
                <a:cs typeface="+mn-cs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263277" y="5900238"/>
            <a:ext cx="3164643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71717"/>
                </a:solidFill>
                <a:effectLst/>
                <a:uLnTx/>
                <a:uFillTx/>
                <a:latin typeface="Rotonda Medium" panose="020F0602030203020204" pitchFamily="34" charset="0"/>
                <a:ea typeface="HK Grotesk Medium"/>
                <a:cs typeface="HK Grotesk Medium"/>
                <a:sym typeface="HK Grotesk Medium"/>
              </a:rPr>
              <a:t>Настя Смирнова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71717"/>
              </a:solidFill>
              <a:effectLst/>
              <a:uLnTx/>
              <a:uFillTx/>
              <a:latin typeface="Rotonda Medium" panose="020F0602030203020204" pitchFamily="34" charset="0"/>
              <a:ea typeface="HK Grotesk Medium"/>
              <a:cs typeface="HK Grotesk Medium"/>
              <a:sym typeface="HK Grotesk Medium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59E334E-4B93-444A-A90E-05AD019AC66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" t="-549" r="2327" b="3340"/>
          <a:stretch/>
        </p:blipFill>
        <p:spPr>
          <a:xfrm>
            <a:off x="6841460" y="1435607"/>
            <a:ext cx="3986784" cy="3986784"/>
          </a:xfrm>
          <a:prstGeom prst="ellipse">
            <a:avLst/>
          </a:prstGeom>
        </p:spPr>
      </p:pic>
      <p:sp>
        <p:nvSpPr>
          <p:cNvPr id="21" name="Заголовок 2">
            <a:extLst>
              <a:ext uri="{FF2B5EF4-FFF2-40B4-BE49-F238E27FC236}">
                <a16:creationId xmlns:a16="http://schemas.microsoft.com/office/drawing/2014/main" id="{D4750BB5-C3C7-4AC3-965C-F2EE1B59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857" y="3254307"/>
            <a:ext cx="6017832" cy="806399"/>
          </a:xfrm>
        </p:spPr>
        <p:txBody>
          <a:bodyPr>
            <a:noAutofit/>
          </a:bodyPr>
          <a:lstStyle/>
          <a:p>
            <a:r>
              <a:rPr lang="ru-RU" sz="9600" dirty="0"/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40531397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1F1A525-99AA-643B-7990-94BF0D5D3ACB}"/>
              </a:ext>
            </a:extLst>
          </p:cNvPr>
          <p:cNvSpPr/>
          <p:nvPr/>
        </p:nvSpPr>
        <p:spPr>
          <a:xfrm>
            <a:off x="407988" y="324132"/>
            <a:ext cx="11473998" cy="620973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667601" y="1251001"/>
            <a:ext cx="4355999" cy="4355999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100C08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7006689" y="5677690"/>
            <a:ext cx="3655582" cy="649016"/>
            <a:chOff x="0" y="0"/>
            <a:chExt cx="6230508" cy="11061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231778" cy="1106170"/>
            </a:xfrm>
            <a:custGeom>
              <a:avLst/>
              <a:gdLst/>
              <a:ahLst/>
              <a:cxnLst/>
              <a:rect l="l" t="t" r="r" b="b"/>
              <a:pathLst>
                <a:path w="6231778" h="1106170">
                  <a:moveTo>
                    <a:pt x="5678058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5678058" y="0"/>
                  </a:lnTo>
                  <a:cubicBezTo>
                    <a:pt x="5984128" y="0"/>
                    <a:pt x="6231778" y="247650"/>
                    <a:pt x="6231778" y="553720"/>
                  </a:cubicBezTo>
                  <a:cubicBezTo>
                    <a:pt x="6230508" y="858520"/>
                    <a:pt x="5982858" y="1106170"/>
                    <a:pt x="5678058" y="1106170"/>
                  </a:cubicBezTo>
                  <a:close/>
                </a:path>
              </a:pathLst>
            </a:custGeom>
            <a:solidFill>
              <a:schemeClr val="accent5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100C08"/>
                </a:solidFill>
                <a:effectLst/>
                <a:uLnTx/>
                <a:uFillTx/>
                <a:latin typeface="Rotonda Medium"/>
                <a:ea typeface="+mn-ea"/>
                <a:cs typeface="+mn-cs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263277" y="5900238"/>
            <a:ext cx="3164643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71717"/>
                </a:solidFill>
                <a:effectLst/>
                <a:uLnTx/>
                <a:uFillTx/>
                <a:latin typeface="Rotonda Medium" panose="020F0602030203020204" pitchFamily="34" charset="0"/>
                <a:ea typeface="HK Grotesk Medium"/>
                <a:cs typeface="HK Grotesk Medium"/>
                <a:sym typeface="HK Grotesk Medium"/>
              </a:rPr>
              <a:t>Оля Костина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71717"/>
              </a:solidFill>
              <a:effectLst/>
              <a:uLnTx/>
              <a:uFillTx/>
              <a:latin typeface="Rotonda Medium" panose="020F0602030203020204" pitchFamily="34" charset="0"/>
              <a:ea typeface="HK Grotesk Medium"/>
              <a:cs typeface="HK Grotesk Medium"/>
              <a:sym typeface="HK Grotesk Medium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DCD7822-C290-F21D-9681-82BFD87BF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620" y="2793733"/>
            <a:ext cx="5827813" cy="1512888"/>
          </a:xfrm>
        </p:spPr>
        <p:txBody>
          <a:bodyPr>
            <a:normAutofit/>
          </a:bodyPr>
          <a:lstStyle/>
          <a:p>
            <a:r>
              <a:rPr lang="ru-RU" sz="9600" dirty="0"/>
              <a:t>Спасибо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8A483F2-C8DA-472D-9179-25A75A2E768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20" t="10520" r="10520" b="10520"/>
          <a:stretch/>
        </p:blipFill>
        <p:spPr>
          <a:xfrm>
            <a:off x="6833937" y="1443998"/>
            <a:ext cx="3992895" cy="3992895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8989496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1F1A525-99AA-643B-7990-94BF0D5D3ACB}"/>
              </a:ext>
            </a:extLst>
          </p:cNvPr>
          <p:cNvSpPr/>
          <p:nvPr/>
        </p:nvSpPr>
        <p:spPr>
          <a:xfrm>
            <a:off x="407988" y="324132"/>
            <a:ext cx="11473998" cy="620973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667601" y="1251001"/>
            <a:ext cx="4355999" cy="4355999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100C08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7006689" y="5677690"/>
            <a:ext cx="3655582" cy="649016"/>
            <a:chOff x="0" y="0"/>
            <a:chExt cx="6230508" cy="11061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231778" cy="1106170"/>
            </a:xfrm>
            <a:custGeom>
              <a:avLst/>
              <a:gdLst/>
              <a:ahLst/>
              <a:cxnLst/>
              <a:rect l="l" t="t" r="r" b="b"/>
              <a:pathLst>
                <a:path w="6231778" h="1106170">
                  <a:moveTo>
                    <a:pt x="5678058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5678058" y="0"/>
                  </a:lnTo>
                  <a:cubicBezTo>
                    <a:pt x="5984128" y="0"/>
                    <a:pt x="6231778" y="247650"/>
                    <a:pt x="6231778" y="553720"/>
                  </a:cubicBezTo>
                  <a:cubicBezTo>
                    <a:pt x="6230508" y="858520"/>
                    <a:pt x="5982858" y="1106170"/>
                    <a:pt x="5678058" y="1106170"/>
                  </a:cubicBezTo>
                  <a:close/>
                </a:path>
              </a:pathLst>
            </a:custGeom>
            <a:solidFill>
              <a:schemeClr val="accent5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100C08"/>
                </a:solidFill>
                <a:effectLst/>
                <a:uLnTx/>
                <a:uFillTx/>
                <a:latin typeface="Rotonda Medium"/>
                <a:ea typeface="+mn-ea"/>
                <a:cs typeface="+mn-cs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263277" y="5900238"/>
            <a:ext cx="3164643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71717"/>
                </a:solidFill>
                <a:effectLst/>
                <a:uLnTx/>
                <a:uFillTx/>
                <a:latin typeface="Rotonda Medium" panose="020F0602030203020204" pitchFamily="34" charset="0"/>
                <a:ea typeface="HK Grotesk Medium"/>
                <a:cs typeface="HK Grotesk Medium"/>
                <a:sym typeface="HK Grotesk Medium"/>
              </a:rPr>
              <a:t>Оксана Бородько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71717"/>
              </a:solidFill>
              <a:effectLst/>
              <a:uLnTx/>
              <a:uFillTx/>
              <a:latin typeface="Rotonda Medium" panose="020F0602030203020204" pitchFamily="34" charset="0"/>
              <a:ea typeface="HK Grotesk Medium"/>
              <a:cs typeface="HK Grotesk Medium"/>
              <a:sym typeface="HK Grotesk Medium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DCD7822-C290-F21D-9681-82BFD87BF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038" y="3403005"/>
            <a:ext cx="5131084" cy="806399"/>
          </a:xfrm>
        </p:spPr>
        <p:txBody>
          <a:bodyPr>
            <a:noAutofit/>
          </a:bodyPr>
          <a:lstStyle/>
          <a:p>
            <a:r>
              <a:rPr lang="ru-RU" sz="9600" dirty="0"/>
              <a:t>Спасибо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A92B0AE-A485-40FE-9FB6-CB77733DB22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8355" y1="45781" x2="34509" y2="54766"/>
                        <a14:foregroundMark x1="67521" y1="60391" x2="79701" y2="76250"/>
                        <a14:foregroundMark x1="79701" y1="76250" x2="79808" y2="76328"/>
                        <a14:foregroundMark x1="78419" y1="70156" x2="75962" y2="68359"/>
                        <a14:foregroundMark x1="79808" y1="75000" x2="71368" y2="62734"/>
                        <a14:foregroundMark x1="63675" y1="47578" x2="65385" y2="59609"/>
                        <a14:foregroundMark x1="78739" y1="72969" x2="73184" y2="66328"/>
                        <a14:foregroundMark x1="74573" y1="66016" x2="80128" y2="72969"/>
                        <a14:backgroundMark x1="41560" y1="33906" x2="41880" y2="35703"/>
                        <a14:backgroundMark x1="52457" y1="32656" x2="54487" y2="33906"/>
                        <a14:backgroundMark x1="59402" y1="35703" x2="61859" y2="38047"/>
                        <a14:backgroundMark x1="66495" y1="54566" x2="75088" y2="65817"/>
                        <a14:backgroundMark x1="32051" y1="55781" x2="30662" y2="57578"/>
                        <a14:backgroundMark x1="28846" y1="61641" x2="28846" y2="61641"/>
                      </a14:backgroundRemoval>
                    </a14:imgEffect>
                  </a14:imgLayer>
                </a14:imgProps>
              </a:ext>
            </a:extLst>
          </a:blip>
          <a:srcRect l="22120" t="30000" r="16408" b="26164"/>
          <a:stretch/>
        </p:blipFill>
        <p:spPr>
          <a:xfrm>
            <a:off x="6853103" y="1459966"/>
            <a:ext cx="3984989" cy="3886078"/>
          </a:xfrm>
          <a:prstGeom prst="ellipse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5206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1F1A525-99AA-643B-7990-94BF0D5D3ACB}"/>
              </a:ext>
            </a:extLst>
          </p:cNvPr>
          <p:cNvSpPr/>
          <p:nvPr/>
        </p:nvSpPr>
        <p:spPr>
          <a:xfrm>
            <a:off x="407988" y="324132"/>
            <a:ext cx="11473998" cy="620973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667601" y="1251001"/>
            <a:ext cx="4355999" cy="4355999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100C08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7006689" y="5677690"/>
            <a:ext cx="3655582" cy="649016"/>
            <a:chOff x="0" y="0"/>
            <a:chExt cx="6230508" cy="11061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231778" cy="1106170"/>
            </a:xfrm>
            <a:custGeom>
              <a:avLst/>
              <a:gdLst/>
              <a:ahLst/>
              <a:cxnLst/>
              <a:rect l="l" t="t" r="r" b="b"/>
              <a:pathLst>
                <a:path w="6231778" h="1106170">
                  <a:moveTo>
                    <a:pt x="5678058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5678058" y="0"/>
                  </a:lnTo>
                  <a:cubicBezTo>
                    <a:pt x="5984128" y="0"/>
                    <a:pt x="6231778" y="247650"/>
                    <a:pt x="6231778" y="553720"/>
                  </a:cubicBezTo>
                  <a:cubicBezTo>
                    <a:pt x="6230508" y="858520"/>
                    <a:pt x="5982858" y="1106170"/>
                    <a:pt x="5678058" y="1106170"/>
                  </a:cubicBezTo>
                  <a:close/>
                </a:path>
              </a:pathLst>
            </a:custGeom>
            <a:solidFill>
              <a:schemeClr val="accent5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100C08"/>
                </a:solidFill>
                <a:effectLst/>
                <a:uLnTx/>
                <a:uFillTx/>
                <a:latin typeface="Rotonda Medium"/>
                <a:ea typeface="+mn-ea"/>
                <a:cs typeface="+mn-cs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263277" y="5900238"/>
            <a:ext cx="3164643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71717"/>
                </a:solidFill>
                <a:effectLst/>
                <a:uLnTx/>
                <a:uFillTx/>
                <a:latin typeface="Rotonda Medium" panose="020F0602030203020204" pitchFamily="34" charset="0"/>
                <a:ea typeface="HK Grotesk Medium"/>
                <a:cs typeface="HK Grotesk Medium"/>
                <a:sym typeface="HK Grotesk Medium"/>
              </a:rPr>
              <a:t>Оксана Лузева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71717"/>
              </a:solidFill>
              <a:effectLst/>
              <a:uLnTx/>
              <a:uFillTx/>
              <a:latin typeface="Rotonda Medium" panose="020F0602030203020204" pitchFamily="34" charset="0"/>
              <a:ea typeface="HK Grotesk Medium"/>
              <a:cs typeface="HK Grotesk Medium"/>
              <a:sym typeface="HK Grotesk Medium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CD01F2C-83E5-42F5-8F93-BD59489D34F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81" t="18263" r="3859" b="29117"/>
          <a:stretch/>
        </p:blipFill>
        <p:spPr>
          <a:xfrm>
            <a:off x="6857620" y="1451768"/>
            <a:ext cx="3954463" cy="3954463"/>
          </a:xfrm>
          <a:prstGeom prst="ellipse">
            <a:avLst/>
          </a:prstGeom>
        </p:spPr>
      </p:pic>
      <p:sp>
        <p:nvSpPr>
          <p:cNvPr id="21" name="Заголовок 2">
            <a:extLst>
              <a:ext uri="{FF2B5EF4-FFF2-40B4-BE49-F238E27FC236}">
                <a16:creationId xmlns:a16="http://schemas.microsoft.com/office/drawing/2014/main" id="{54672BA7-FEEE-4788-AC60-E9F0281E4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857" y="3254307"/>
            <a:ext cx="6017832" cy="806399"/>
          </a:xfrm>
        </p:spPr>
        <p:txBody>
          <a:bodyPr>
            <a:noAutofit/>
          </a:bodyPr>
          <a:lstStyle/>
          <a:p>
            <a:r>
              <a:rPr lang="ru-RU" sz="9600" dirty="0"/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31842636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1F1A525-99AA-643B-7990-94BF0D5D3ACB}"/>
              </a:ext>
            </a:extLst>
          </p:cNvPr>
          <p:cNvSpPr/>
          <p:nvPr/>
        </p:nvSpPr>
        <p:spPr>
          <a:xfrm>
            <a:off x="407988" y="387916"/>
            <a:ext cx="11473998" cy="620973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667601" y="1251001"/>
            <a:ext cx="4355999" cy="4355999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100C08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7006689" y="5677690"/>
            <a:ext cx="3655582" cy="649016"/>
            <a:chOff x="0" y="0"/>
            <a:chExt cx="6230508" cy="11061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231778" cy="1106170"/>
            </a:xfrm>
            <a:custGeom>
              <a:avLst/>
              <a:gdLst/>
              <a:ahLst/>
              <a:cxnLst/>
              <a:rect l="l" t="t" r="r" b="b"/>
              <a:pathLst>
                <a:path w="6231778" h="1106170">
                  <a:moveTo>
                    <a:pt x="5678058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5678058" y="0"/>
                  </a:lnTo>
                  <a:cubicBezTo>
                    <a:pt x="5984128" y="0"/>
                    <a:pt x="6231778" y="247650"/>
                    <a:pt x="6231778" y="553720"/>
                  </a:cubicBezTo>
                  <a:cubicBezTo>
                    <a:pt x="6230508" y="858520"/>
                    <a:pt x="5982858" y="1106170"/>
                    <a:pt x="5678058" y="1106170"/>
                  </a:cubicBezTo>
                  <a:close/>
                </a:path>
              </a:pathLst>
            </a:custGeom>
            <a:solidFill>
              <a:schemeClr val="accent5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100C08"/>
                </a:solidFill>
                <a:effectLst/>
                <a:uLnTx/>
                <a:uFillTx/>
                <a:latin typeface="Rotonda Medium"/>
                <a:ea typeface="+mn-ea"/>
                <a:cs typeface="+mn-cs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263277" y="5900238"/>
            <a:ext cx="3164643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tonda Medium" panose="020F0602030203020204" pitchFamily="34" charset="0"/>
                <a:ea typeface="+mn-ea"/>
                <a:cs typeface="Arial" pitchFamily="34" charset="0"/>
              </a:rPr>
              <a:t>Аня Мирошниченко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4721DF0-B7E4-6015-670E-931D483433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4995" y="1453082"/>
            <a:ext cx="4236405" cy="4873625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br>
              <a:rPr lang="ru-RU" dirty="0">
                <a:solidFill>
                  <a:prstClr val="black"/>
                </a:solidFill>
                <a:latin typeface="Calibri" panose="020F0502020204030204"/>
              </a:rPr>
            </a:br>
            <a:endParaRPr lang="ru-RU" dirty="0">
              <a:solidFill>
                <a:prstClr val="black"/>
              </a:solidFill>
              <a:latin typeface="Calibri" panose="020F0502020204030204"/>
            </a:endParaRP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ru-RU" dirty="0">
              <a:solidFill>
                <a:prstClr val="black"/>
              </a:solidFill>
              <a:latin typeface="Calibri" panose="020F0502020204030204"/>
            </a:endParaRPr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A90697A-520C-4971-89D9-7D919163A87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20" t="1631" r="10520" b="19408"/>
          <a:stretch/>
        </p:blipFill>
        <p:spPr>
          <a:xfrm>
            <a:off x="6862411" y="1465540"/>
            <a:ext cx="3941206" cy="3941206"/>
          </a:xfrm>
          <a:prstGeom prst="ellipse">
            <a:avLst/>
          </a:prstGeom>
        </p:spPr>
      </p:pic>
      <p:sp>
        <p:nvSpPr>
          <p:cNvPr id="17" name="Заголовок 2">
            <a:extLst>
              <a:ext uri="{FF2B5EF4-FFF2-40B4-BE49-F238E27FC236}">
                <a16:creationId xmlns:a16="http://schemas.microsoft.com/office/drawing/2014/main" id="{91674739-560D-4E9F-9B71-8438FD94E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620" y="2793733"/>
            <a:ext cx="5827813" cy="1512888"/>
          </a:xfrm>
        </p:spPr>
        <p:txBody>
          <a:bodyPr>
            <a:normAutofit/>
          </a:bodyPr>
          <a:lstStyle/>
          <a:p>
            <a:r>
              <a:rPr lang="ru-RU" sz="9600" dirty="0"/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3884021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1F1A525-99AA-643B-7990-94BF0D5D3ACB}"/>
              </a:ext>
            </a:extLst>
          </p:cNvPr>
          <p:cNvSpPr/>
          <p:nvPr/>
        </p:nvSpPr>
        <p:spPr>
          <a:xfrm>
            <a:off x="407988" y="260350"/>
            <a:ext cx="11473998" cy="620973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667601" y="1251001"/>
            <a:ext cx="4355999" cy="4355999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100C08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7006689" y="5677690"/>
            <a:ext cx="3655582" cy="649016"/>
            <a:chOff x="0" y="0"/>
            <a:chExt cx="6230508" cy="11061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231778" cy="1106170"/>
            </a:xfrm>
            <a:custGeom>
              <a:avLst/>
              <a:gdLst/>
              <a:ahLst/>
              <a:cxnLst/>
              <a:rect l="l" t="t" r="r" b="b"/>
              <a:pathLst>
                <a:path w="6231778" h="1106170">
                  <a:moveTo>
                    <a:pt x="5678058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5678058" y="0"/>
                  </a:lnTo>
                  <a:cubicBezTo>
                    <a:pt x="5984128" y="0"/>
                    <a:pt x="6231778" y="247650"/>
                    <a:pt x="6231778" y="553720"/>
                  </a:cubicBezTo>
                  <a:cubicBezTo>
                    <a:pt x="6230508" y="858520"/>
                    <a:pt x="5982858" y="1106170"/>
                    <a:pt x="5678058" y="1106170"/>
                  </a:cubicBezTo>
                  <a:close/>
                </a:path>
              </a:pathLst>
            </a:custGeom>
            <a:solidFill>
              <a:schemeClr val="accent5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100C08"/>
                </a:solidFill>
                <a:effectLst/>
                <a:uLnTx/>
                <a:uFillTx/>
                <a:latin typeface="Rotonda Medium"/>
                <a:ea typeface="+mn-ea"/>
                <a:cs typeface="+mn-cs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263277" y="5900238"/>
            <a:ext cx="3164643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tonda Medium" panose="020F0602030203020204" pitchFamily="34" charset="0"/>
                <a:ea typeface="+mn-ea"/>
                <a:cs typeface="Arial" pitchFamily="34" charset="0"/>
              </a:rPr>
              <a:t>Маша Черкасова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DCD7822-C290-F21D-9681-82BFD87BF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060" y="3365217"/>
            <a:ext cx="5151644" cy="806399"/>
          </a:xfrm>
        </p:spPr>
        <p:txBody>
          <a:bodyPr>
            <a:noAutofit/>
          </a:bodyPr>
          <a:lstStyle/>
          <a:p>
            <a:r>
              <a:rPr lang="ru-RU" sz="9600" dirty="0"/>
              <a:t>Спасибо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4721DF0-B7E4-6015-670E-931D483433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3084" y="1658237"/>
            <a:ext cx="5036131" cy="4668470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br>
              <a:rPr lang="ru-RU" dirty="0">
                <a:solidFill>
                  <a:prstClr val="black"/>
                </a:solidFill>
                <a:latin typeface="Calibri" panose="020F0502020204030204"/>
              </a:rPr>
            </a:br>
            <a:endParaRPr lang="ru-RU" dirty="0">
              <a:solidFill>
                <a:srgbClr val="000000"/>
              </a:solidFill>
              <a:latin typeface="Roboto"/>
            </a:endParaRPr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37CB41B-BF7D-4002-9377-983FE92443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696" y="1405831"/>
            <a:ext cx="4046338" cy="4046338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8496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1F1A525-99AA-643B-7990-94BF0D5D3ACB}"/>
              </a:ext>
            </a:extLst>
          </p:cNvPr>
          <p:cNvSpPr/>
          <p:nvPr/>
        </p:nvSpPr>
        <p:spPr>
          <a:xfrm>
            <a:off x="407988" y="295256"/>
            <a:ext cx="11473998" cy="620973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667601" y="1251001"/>
            <a:ext cx="4355999" cy="4355999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100C08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7006689" y="5677690"/>
            <a:ext cx="3655582" cy="649016"/>
            <a:chOff x="0" y="0"/>
            <a:chExt cx="6230508" cy="11061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231778" cy="1106170"/>
            </a:xfrm>
            <a:custGeom>
              <a:avLst/>
              <a:gdLst/>
              <a:ahLst/>
              <a:cxnLst/>
              <a:rect l="l" t="t" r="r" b="b"/>
              <a:pathLst>
                <a:path w="6231778" h="1106170">
                  <a:moveTo>
                    <a:pt x="5678058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5678058" y="0"/>
                  </a:lnTo>
                  <a:cubicBezTo>
                    <a:pt x="5984128" y="0"/>
                    <a:pt x="6231778" y="247650"/>
                    <a:pt x="6231778" y="553720"/>
                  </a:cubicBezTo>
                  <a:cubicBezTo>
                    <a:pt x="6230508" y="858520"/>
                    <a:pt x="5982858" y="1106170"/>
                    <a:pt x="5678058" y="1106170"/>
                  </a:cubicBezTo>
                  <a:close/>
                </a:path>
              </a:pathLst>
            </a:custGeom>
            <a:solidFill>
              <a:schemeClr val="accent5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100C08"/>
                </a:solidFill>
                <a:effectLst/>
                <a:uLnTx/>
                <a:uFillTx/>
                <a:latin typeface="Rotonda Medium"/>
                <a:ea typeface="+mn-ea"/>
                <a:cs typeface="+mn-cs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263277" y="5900238"/>
            <a:ext cx="3164643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71717"/>
                </a:solidFill>
                <a:effectLst/>
                <a:uLnTx/>
                <a:uFillTx/>
                <a:latin typeface="Rotonda Medium" panose="020F0602030203020204" pitchFamily="34" charset="0"/>
                <a:ea typeface="HK Grotesk Medium"/>
                <a:cs typeface="HK Grotesk Medium"/>
                <a:sym typeface="HK Grotesk Medium"/>
              </a:rPr>
              <a:t>Дина Гиниятуллина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71717"/>
              </a:solidFill>
              <a:effectLst/>
              <a:uLnTx/>
              <a:uFillTx/>
              <a:latin typeface="Rotonda Medium" panose="020F0602030203020204" pitchFamily="34" charset="0"/>
              <a:ea typeface="HK Grotesk Medium"/>
              <a:cs typeface="HK Grotesk Medium"/>
              <a:sym typeface="HK Grotesk Medium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56CA327-29FC-406C-80F9-E36F3D6D6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718" y="1457182"/>
            <a:ext cx="3962267" cy="3943636"/>
          </a:xfrm>
          <a:prstGeom prst="ellipse">
            <a:avLst/>
          </a:prstGeom>
        </p:spPr>
      </p:pic>
      <p:sp>
        <p:nvSpPr>
          <p:cNvPr id="15" name="Заголовок 2">
            <a:extLst>
              <a:ext uri="{FF2B5EF4-FFF2-40B4-BE49-F238E27FC236}">
                <a16:creationId xmlns:a16="http://schemas.microsoft.com/office/drawing/2014/main" id="{6AE82E55-9191-44BA-BCFB-6E1D4EF9EF61}"/>
              </a:ext>
            </a:extLst>
          </p:cNvPr>
          <p:cNvSpPr txBox="1">
            <a:spLocks/>
          </p:cNvSpPr>
          <p:nvPr/>
        </p:nvSpPr>
        <p:spPr>
          <a:xfrm>
            <a:off x="756620" y="2793733"/>
            <a:ext cx="5827813" cy="15128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0" i="0" u="none" strike="noStrike" kern="1200" cap="none" spc="0" normalizeH="0" baseline="0" noProof="0" dirty="0">
                <a:ln>
                  <a:noFill/>
                </a:ln>
                <a:solidFill>
                  <a:srgbClr val="100C08"/>
                </a:solidFill>
                <a:effectLst/>
                <a:uLnTx/>
                <a:uFillTx/>
                <a:latin typeface="Flame"/>
                <a:ea typeface="+mj-ea"/>
                <a:cs typeface="+mj-cs"/>
              </a:rPr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14132946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1F1A525-99AA-643B-7990-94BF0D5D3ACB}"/>
              </a:ext>
            </a:extLst>
          </p:cNvPr>
          <p:cNvSpPr/>
          <p:nvPr/>
        </p:nvSpPr>
        <p:spPr>
          <a:xfrm>
            <a:off x="407988" y="324132"/>
            <a:ext cx="11473998" cy="620973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667601" y="1251001"/>
            <a:ext cx="4355999" cy="4355999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100C08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7006689" y="5677690"/>
            <a:ext cx="3655582" cy="649016"/>
            <a:chOff x="0" y="0"/>
            <a:chExt cx="6230508" cy="11061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231778" cy="1106170"/>
            </a:xfrm>
            <a:custGeom>
              <a:avLst/>
              <a:gdLst/>
              <a:ahLst/>
              <a:cxnLst/>
              <a:rect l="l" t="t" r="r" b="b"/>
              <a:pathLst>
                <a:path w="6231778" h="1106170">
                  <a:moveTo>
                    <a:pt x="5678058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5678058" y="0"/>
                  </a:lnTo>
                  <a:cubicBezTo>
                    <a:pt x="5984128" y="0"/>
                    <a:pt x="6231778" y="247650"/>
                    <a:pt x="6231778" y="553720"/>
                  </a:cubicBezTo>
                  <a:cubicBezTo>
                    <a:pt x="6230508" y="858520"/>
                    <a:pt x="5982858" y="1106170"/>
                    <a:pt x="5678058" y="1106170"/>
                  </a:cubicBezTo>
                  <a:close/>
                </a:path>
              </a:pathLst>
            </a:custGeom>
            <a:solidFill>
              <a:schemeClr val="accent5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100C08"/>
                </a:solidFill>
                <a:effectLst/>
                <a:uLnTx/>
                <a:uFillTx/>
                <a:latin typeface="Rotonda Medium"/>
                <a:ea typeface="+mn-ea"/>
                <a:cs typeface="+mn-cs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263277" y="5900238"/>
            <a:ext cx="3164643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tonda Medium" panose="020F0602030203020204" pitchFamily="34" charset="0"/>
                <a:ea typeface="+mn-ea"/>
                <a:cs typeface="Arial" pitchFamily="34" charset="0"/>
              </a:rPr>
              <a:t>Эля Леванова</a:t>
            </a:r>
            <a:endParaRPr kumimoji="0" lang="en-RU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tonda Medium" panose="020F0602030203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4721DF0-B7E4-6015-670E-931D483433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8270" y="1604357"/>
            <a:ext cx="4073756" cy="472235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endParaRPr lang="ru-RU" dirty="0">
              <a:solidFill>
                <a:prstClr val="black"/>
              </a:solidFill>
              <a:latin typeface="Calibri" panose="020F0502020204030204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endParaRPr lang="ru-RU" dirty="0">
              <a:solidFill>
                <a:prstClr val="black"/>
              </a:solidFill>
              <a:latin typeface="Calibri" panose="020F0502020204030204"/>
            </a:endParaRPr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7B74459-E6AF-4EED-9BDA-7FBA3E62801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08246" y="1468385"/>
            <a:ext cx="3921227" cy="3921227"/>
          </a:xfrm>
          <a:prstGeom prst="ellipse">
            <a:avLst/>
          </a:prstGeom>
        </p:spPr>
      </p:pic>
      <p:sp>
        <p:nvSpPr>
          <p:cNvPr id="16" name="Заголовок 2">
            <a:extLst>
              <a:ext uri="{FF2B5EF4-FFF2-40B4-BE49-F238E27FC236}">
                <a16:creationId xmlns:a16="http://schemas.microsoft.com/office/drawing/2014/main" id="{EF93FCDC-4F22-4FC3-9748-BD60CE135714}"/>
              </a:ext>
            </a:extLst>
          </p:cNvPr>
          <p:cNvSpPr txBox="1">
            <a:spLocks/>
          </p:cNvSpPr>
          <p:nvPr/>
        </p:nvSpPr>
        <p:spPr>
          <a:xfrm>
            <a:off x="756620" y="2793733"/>
            <a:ext cx="5827813" cy="15128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0" i="0" u="none" strike="noStrike" kern="1200" cap="none" spc="0" normalizeH="0" baseline="0" noProof="0" dirty="0">
                <a:ln>
                  <a:noFill/>
                </a:ln>
                <a:solidFill>
                  <a:srgbClr val="100C08"/>
                </a:solidFill>
                <a:effectLst/>
                <a:uLnTx/>
                <a:uFillTx/>
                <a:latin typeface="Flame"/>
                <a:ea typeface="+mj-ea"/>
                <a:cs typeface="+mj-cs"/>
              </a:rPr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25658495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1F1A525-99AA-643B-7990-94BF0D5D3ACB}"/>
              </a:ext>
            </a:extLst>
          </p:cNvPr>
          <p:cNvSpPr/>
          <p:nvPr/>
        </p:nvSpPr>
        <p:spPr>
          <a:xfrm>
            <a:off x="407988" y="324132"/>
            <a:ext cx="11473998" cy="620973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667601" y="1251001"/>
            <a:ext cx="4355999" cy="4355999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100C08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7006689" y="5677690"/>
            <a:ext cx="3655582" cy="649016"/>
            <a:chOff x="0" y="0"/>
            <a:chExt cx="6230508" cy="11061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231778" cy="1106170"/>
            </a:xfrm>
            <a:custGeom>
              <a:avLst/>
              <a:gdLst/>
              <a:ahLst/>
              <a:cxnLst/>
              <a:rect l="l" t="t" r="r" b="b"/>
              <a:pathLst>
                <a:path w="6231778" h="1106170">
                  <a:moveTo>
                    <a:pt x="5678058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5678058" y="0"/>
                  </a:lnTo>
                  <a:cubicBezTo>
                    <a:pt x="5984128" y="0"/>
                    <a:pt x="6231778" y="247650"/>
                    <a:pt x="6231778" y="553720"/>
                  </a:cubicBezTo>
                  <a:cubicBezTo>
                    <a:pt x="6230508" y="858520"/>
                    <a:pt x="5982858" y="1106170"/>
                    <a:pt x="5678058" y="1106170"/>
                  </a:cubicBezTo>
                  <a:close/>
                </a:path>
              </a:pathLst>
            </a:custGeom>
            <a:solidFill>
              <a:schemeClr val="accent5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100C08"/>
                </a:solidFill>
                <a:effectLst/>
                <a:uLnTx/>
                <a:uFillTx/>
                <a:latin typeface="Rotonda Medium"/>
                <a:ea typeface="+mn-ea"/>
                <a:cs typeface="+mn-cs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263277" y="5900238"/>
            <a:ext cx="3164643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tonda Medium" panose="020F0602030203020204" pitchFamily="34" charset="0"/>
                <a:ea typeface="+mn-ea"/>
                <a:cs typeface="Arial" pitchFamily="34" charset="0"/>
              </a:rPr>
              <a:t>Артем Никифоров</a:t>
            </a:r>
            <a:endParaRPr kumimoji="0" lang="en-RU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tonda Medium" panose="020F0602030203020204" pitchFamily="34" charset="0"/>
              <a:ea typeface="+mn-ea"/>
              <a:cs typeface="Arial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609DADD-F523-448F-8E1A-F03B9A48D60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2" t="-2006" r="10468" b="23045"/>
          <a:stretch/>
        </p:blipFill>
        <p:spPr>
          <a:xfrm>
            <a:off x="6868366" y="1451767"/>
            <a:ext cx="3954463" cy="3954463"/>
          </a:xfrm>
          <a:prstGeom prst="ellipse">
            <a:avLst/>
          </a:prstGeom>
        </p:spPr>
      </p:pic>
      <p:sp>
        <p:nvSpPr>
          <p:cNvPr id="16" name="Заголовок 2">
            <a:extLst>
              <a:ext uri="{FF2B5EF4-FFF2-40B4-BE49-F238E27FC236}">
                <a16:creationId xmlns:a16="http://schemas.microsoft.com/office/drawing/2014/main" id="{27D5A62F-DAB4-46D5-A043-407A686D1025}"/>
              </a:ext>
            </a:extLst>
          </p:cNvPr>
          <p:cNvSpPr txBox="1">
            <a:spLocks/>
          </p:cNvSpPr>
          <p:nvPr/>
        </p:nvSpPr>
        <p:spPr>
          <a:xfrm>
            <a:off x="756620" y="2793733"/>
            <a:ext cx="5827813" cy="15128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0" i="0" u="none" strike="noStrike" kern="1200" cap="none" spc="0" normalizeH="0" baseline="0" noProof="0" dirty="0">
                <a:ln>
                  <a:noFill/>
                </a:ln>
                <a:solidFill>
                  <a:srgbClr val="100C08"/>
                </a:solidFill>
                <a:effectLst/>
                <a:uLnTx/>
                <a:uFillTx/>
                <a:latin typeface="Flame"/>
                <a:ea typeface="+mj-ea"/>
                <a:cs typeface="+mj-cs"/>
              </a:rPr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25386328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1F1A525-99AA-643B-7990-94BF0D5D3ACB}"/>
              </a:ext>
            </a:extLst>
          </p:cNvPr>
          <p:cNvSpPr/>
          <p:nvPr/>
        </p:nvSpPr>
        <p:spPr>
          <a:xfrm>
            <a:off x="407988" y="324132"/>
            <a:ext cx="11473998" cy="620973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667601" y="1251001"/>
            <a:ext cx="4355999" cy="4355999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100C08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7006689" y="5677690"/>
            <a:ext cx="3655582" cy="649016"/>
            <a:chOff x="0" y="0"/>
            <a:chExt cx="6230508" cy="11061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231778" cy="1106170"/>
            </a:xfrm>
            <a:custGeom>
              <a:avLst/>
              <a:gdLst/>
              <a:ahLst/>
              <a:cxnLst/>
              <a:rect l="l" t="t" r="r" b="b"/>
              <a:pathLst>
                <a:path w="6231778" h="1106170">
                  <a:moveTo>
                    <a:pt x="5678058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5678058" y="0"/>
                  </a:lnTo>
                  <a:cubicBezTo>
                    <a:pt x="5984128" y="0"/>
                    <a:pt x="6231778" y="247650"/>
                    <a:pt x="6231778" y="553720"/>
                  </a:cubicBezTo>
                  <a:cubicBezTo>
                    <a:pt x="6230508" y="858520"/>
                    <a:pt x="5982858" y="1106170"/>
                    <a:pt x="5678058" y="1106170"/>
                  </a:cubicBezTo>
                  <a:close/>
                </a:path>
              </a:pathLst>
            </a:custGeom>
            <a:solidFill>
              <a:schemeClr val="accent5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100C08"/>
                </a:solidFill>
                <a:effectLst/>
                <a:uLnTx/>
                <a:uFillTx/>
                <a:latin typeface="Rotonda Medium"/>
                <a:ea typeface="+mn-ea"/>
                <a:cs typeface="+mn-cs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263277" y="5900238"/>
            <a:ext cx="3164643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71717"/>
                </a:solidFill>
                <a:effectLst/>
                <a:uLnTx/>
                <a:uFillTx/>
                <a:latin typeface="Rotonda Medium" panose="020F0602030203020204" pitchFamily="34" charset="0"/>
                <a:ea typeface="HK Grotesk Medium"/>
                <a:cs typeface="HK Grotesk Medium"/>
                <a:sym typeface="HK Grotesk Medium"/>
              </a:rPr>
              <a:t>Юля Тарутина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71717"/>
              </a:solidFill>
              <a:effectLst/>
              <a:uLnTx/>
              <a:uFillTx/>
              <a:latin typeface="Rotonda Medium" panose="020F0602030203020204" pitchFamily="34" charset="0"/>
              <a:ea typeface="HK Grotesk Medium"/>
              <a:cs typeface="HK Grotesk Medium"/>
              <a:sym typeface="HK Grotesk Medium"/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4721DF0-B7E4-6015-670E-931D483433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3286" y="1451768"/>
            <a:ext cx="4355999" cy="4782777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endParaRPr lang="ru-RU" dirty="0">
              <a:solidFill>
                <a:prstClr val="black"/>
              </a:solidFill>
              <a:latin typeface="Calibri" panose="020F0502020204030204"/>
            </a:endParaRPr>
          </a:p>
          <a:p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DC08CE3-7807-413A-A4A1-BD513B79B38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20" t="10520" r="10520" b="10520"/>
          <a:stretch/>
        </p:blipFill>
        <p:spPr>
          <a:xfrm>
            <a:off x="6857620" y="1451768"/>
            <a:ext cx="3954463" cy="3954463"/>
          </a:xfrm>
          <a:prstGeom prst="ellipse">
            <a:avLst/>
          </a:prstGeom>
        </p:spPr>
      </p:pic>
      <p:sp>
        <p:nvSpPr>
          <p:cNvPr id="16" name="Заголовок 2">
            <a:extLst>
              <a:ext uri="{FF2B5EF4-FFF2-40B4-BE49-F238E27FC236}">
                <a16:creationId xmlns:a16="http://schemas.microsoft.com/office/drawing/2014/main" id="{8229A102-BB7D-41DB-8FE0-D47B8A12C40E}"/>
              </a:ext>
            </a:extLst>
          </p:cNvPr>
          <p:cNvSpPr txBox="1">
            <a:spLocks/>
          </p:cNvSpPr>
          <p:nvPr/>
        </p:nvSpPr>
        <p:spPr>
          <a:xfrm>
            <a:off x="756620" y="2793733"/>
            <a:ext cx="5827813" cy="15128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0" i="0" u="none" strike="noStrike" kern="1200" cap="none" spc="0" normalizeH="0" baseline="0" noProof="0" dirty="0">
                <a:ln>
                  <a:noFill/>
                </a:ln>
                <a:solidFill>
                  <a:srgbClr val="100C08"/>
                </a:solidFill>
                <a:effectLst/>
                <a:uLnTx/>
                <a:uFillTx/>
                <a:latin typeface="Flame"/>
                <a:ea typeface="+mj-ea"/>
                <a:cs typeface="+mj-cs"/>
              </a:rPr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27486073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1F1A525-99AA-643B-7990-94BF0D5D3ACB}"/>
              </a:ext>
            </a:extLst>
          </p:cNvPr>
          <p:cNvSpPr/>
          <p:nvPr/>
        </p:nvSpPr>
        <p:spPr>
          <a:xfrm>
            <a:off x="359001" y="324132"/>
            <a:ext cx="11473998" cy="620973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667601" y="1251001"/>
            <a:ext cx="4355999" cy="4355999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100C08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7006689" y="5677690"/>
            <a:ext cx="3655582" cy="649016"/>
            <a:chOff x="0" y="0"/>
            <a:chExt cx="6230508" cy="11061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231778" cy="1106170"/>
            </a:xfrm>
            <a:custGeom>
              <a:avLst/>
              <a:gdLst/>
              <a:ahLst/>
              <a:cxnLst/>
              <a:rect l="l" t="t" r="r" b="b"/>
              <a:pathLst>
                <a:path w="6231778" h="1106170">
                  <a:moveTo>
                    <a:pt x="5678058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5678058" y="0"/>
                  </a:lnTo>
                  <a:cubicBezTo>
                    <a:pt x="5984128" y="0"/>
                    <a:pt x="6231778" y="247650"/>
                    <a:pt x="6231778" y="553720"/>
                  </a:cubicBezTo>
                  <a:cubicBezTo>
                    <a:pt x="6230508" y="858520"/>
                    <a:pt x="5982858" y="1106170"/>
                    <a:pt x="5678058" y="1106170"/>
                  </a:cubicBezTo>
                  <a:close/>
                </a:path>
              </a:pathLst>
            </a:custGeom>
            <a:solidFill>
              <a:schemeClr val="accent5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100C08"/>
                </a:solidFill>
                <a:effectLst/>
                <a:uLnTx/>
                <a:uFillTx/>
                <a:latin typeface="Rotonda Medium"/>
                <a:ea typeface="+mn-ea"/>
                <a:cs typeface="+mn-cs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263277" y="5900238"/>
            <a:ext cx="3164643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tonda Medium" panose="020F0602030203020204" pitchFamily="34" charset="0"/>
                <a:ea typeface="+mn-ea"/>
                <a:cs typeface="Arial" pitchFamily="34" charset="0"/>
              </a:rPr>
              <a:t>Варя Шпырева</a:t>
            </a:r>
            <a:endParaRPr kumimoji="0" lang="en-RU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tonda Medium" panose="020F0602030203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4721DF0-B7E4-6015-670E-931D483433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0772" y="1451207"/>
            <a:ext cx="4746846" cy="4875499"/>
          </a:xfrm>
        </p:spPr>
        <p:txBody>
          <a:bodyPr/>
          <a:lstStyle/>
          <a:p>
            <a:endParaRPr lang="ru-RU" dirty="0">
              <a:solidFill>
                <a:prstClr val="black"/>
              </a:solidFill>
              <a:latin typeface="Calibri" panose="020F0502020204030204"/>
            </a:endParaRPr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914C8AF-7145-4C7B-8D9E-6A92DE427D1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5" t="-2248" r="6218" b="9262"/>
          <a:stretch/>
        </p:blipFill>
        <p:spPr>
          <a:xfrm>
            <a:off x="6851160" y="1451207"/>
            <a:ext cx="3955585" cy="3955585"/>
          </a:xfrm>
          <a:prstGeom prst="ellipse">
            <a:avLst/>
          </a:prstGeom>
        </p:spPr>
      </p:pic>
      <p:sp>
        <p:nvSpPr>
          <p:cNvPr id="16" name="Заголовок 2">
            <a:extLst>
              <a:ext uri="{FF2B5EF4-FFF2-40B4-BE49-F238E27FC236}">
                <a16:creationId xmlns:a16="http://schemas.microsoft.com/office/drawing/2014/main" id="{7C54A870-8635-4BEF-8AF7-BD06165A2ED1}"/>
              </a:ext>
            </a:extLst>
          </p:cNvPr>
          <p:cNvSpPr txBox="1">
            <a:spLocks/>
          </p:cNvSpPr>
          <p:nvPr/>
        </p:nvSpPr>
        <p:spPr>
          <a:xfrm>
            <a:off x="756620" y="2793733"/>
            <a:ext cx="5827813" cy="15128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0" i="0" u="none" strike="noStrike" kern="1200" cap="none" spc="0" normalizeH="0" baseline="0" noProof="0" dirty="0">
                <a:ln>
                  <a:noFill/>
                </a:ln>
                <a:solidFill>
                  <a:srgbClr val="100C08"/>
                </a:solidFill>
                <a:effectLst/>
                <a:uLnTx/>
                <a:uFillTx/>
                <a:latin typeface="Flame"/>
                <a:ea typeface="+mj-ea"/>
                <a:cs typeface="+mj-cs"/>
              </a:rPr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16745845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1F1A525-99AA-643B-7990-94BF0D5D3ACB}"/>
              </a:ext>
            </a:extLst>
          </p:cNvPr>
          <p:cNvSpPr/>
          <p:nvPr/>
        </p:nvSpPr>
        <p:spPr>
          <a:xfrm>
            <a:off x="407988" y="324132"/>
            <a:ext cx="11473998" cy="620973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667601" y="1251001"/>
            <a:ext cx="4355999" cy="4355999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100C08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7006689" y="5677690"/>
            <a:ext cx="3655582" cy="649016"/>
            <a:chOff x="0" y="0"/>
            <a:chExt cx="6230508" cy="11061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231778" cy="1106170"/>
            </a:xfrm>
            <a:custGeom>
              <a:avLst/>
              <a:gdLst/>
              <a:ahLst/>
              <a:cxnLst/>
              <a:rect l="l" t="t" r="r" b="b"/>
              <a:pathLst>
                <a:path w="6231778" h="1106170">
                  <a:moveTo>
                    <a:pt x="5678058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5678058" y="0"/>
                  </a:lnTo>
                  <a:cubicBezTo>
                    <a:pt x="5984128" y="0"/>
                    <a:pt x="6231778" y="247650"/>
                    <a:pt x="6231778" y="553720"/>
                  </a:cubicBezTo>
                  <a:cubicBezTo>
                    <a:pt x="6230508" y="858520"/>
                    <a:pt x="5982858" y="1106170"/>
                    <a:pt x="5678058" y="1106170"/>
                  </a:cubicBezTo>
                  <a:close/>
                </a:path>
              </a:pathLst>
            </a:custGeom>
            <a:solidFill>
              <a:schemeClr val="accent5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100C08"/>
                </a:solidFill>
                <a:effectLst/>
                <a:uLnTx/>
                <a:uFillTx/>
                <a:latin typeface="Rotonda Medium"/>
                <a:ea typeface="+mn-ea"/>
                <a:cs typeface="+mn-cs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263277" y="5900238"/>
            <a:ext cx="3164643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71717"/>
                </a:solidFill>
                <a:effectLst/>
                <a:uLnTx/>
                <a:uFillTx/>
                <a:latin typeface="Rotonda Medium" panose="020F0602030203020204" pitchFamily="34" charset="0"/>
                <a:ea typeface="HK Grotesk Medium"/>
                <a:cs typeface="HK Grotesk Medium"/>
                <a:sym typeface="HK Grotesk Medium"/>
              </a:rPr>
              <a:t>Александра Лузина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71717"/>
              </a:solidFill>
              <a:effectLst/>
              <a:uLnTx/>
              <a:uFillTx/>
              <a:latin typeface="Rotonda Medium" panose="020F0602030203020204" pitchFamily="34" charset="0"/>
              <a:ea typeface="HK Grotesk Medium"/>
              <a:cs typeface="HK Grotesk Medium"/>
              <a:sym typeface="HK Grotesk Medium"/>
            </a:endParaRPr>
          </a:p>
        </p:txBody>
      </p:sp>
      <p:sp>
        <p:nvSpPr>
          <p:cNvPr id="21" name="Заголовок 2">
            <a:extLst>
              <a:ext uri="{FF2B5EF4-FFF2-40B4-BE49-F238E27FC236}">
                <a16:creationId xmlns:a16="http://schemas.microsoft.com/office/drawing/2014/main" id="{E10605D3-74ED-474C-B6F3-926EDAC30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857" y="3254307"/>
            <a:ext cx="6017832" cy="806399"/>
          </a:xfrm>
        </p:spPr>
        <p:txBody>
          <a:bodyPr>
            <a:noAutofit/>
          </a:bodyPr>
          <a:lstStyle/>
          <a:p>
            <a:r>
              <a:rPr lang="ru-RU" sz="9600" dirty="0"/>
              <a:t>Спасибо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AD0CA0-221C-460B-B191-347C3BDCEED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7" t="8617" r="8053" b="12423"/>
          <a:stretch/>
        </p:blipFill>
        <p:spPr>
          <a:xfrm>
            <a:off x="6667601" y="1250999"/>
            <a:ext cx="4355999" cy="435599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137640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1F1A525-99AA-643B-7990-94BF0D5D3ACB}"/>
              </a:ext>
            </a:extLst>
          </p:cNvPr>
          <p:cNvSpPr/>
          <p:nvPr/>
        </p:nvSpPr>
        <p:spPr>
          <a:xfrm>
            <a:off x="407988" y="324132"/>
            <a:ext cx="11473998" cy="620973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667601" y="1251001"/>
            <a:ext cx="4355999" cy="4355999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100C08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7006689" y="5677690"/>
            <a:ext cx="3655582" cy="649016"/>
            <a:chOff x="0" y="0"/>
            <a:chExt cx="6230508" cy="11061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231778" cy="1106170"/>
            </a:xfrm>
            <a:custGeom>
              <a:avLst/>
              <a:gdLst/>
              <a:ahLst/>
              <a:cxnLst/>
              <a:rect l="l" t="t" r="r" b="b"/>
              <a:pathLst>
                <a:path w="6231778" h="1106170">
                  <a:moveTo>
                    <a:pt x="5678058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5678058" y="0"/>
                  </a:lnTo>
                  <a:cubicBezTo>
                    <a:pt x="5984128" y="0"/>
                    <a:pt x="6231778" y="247650"/>
                    <a:pt x="6231778" y="553720"/>
                  </a:cubicBezTo>
                  <a:cubicBezTo>
                    <a:pt x="6230508" y="858520"/>
                    <a:pt x="5982858" y="1106170"/>
                    <a:pt x="5678058" y="1106170"/>
                  </a:cubicBezTo>
                  <a:close/>
                </a:path>
              </a:pathLst>
            </a:custGeom>
            <a:solidFill>
              <a:schemeClr val="accent5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100C08"/>
                </a:solidFill>
                <a:effectLst/>
                <a:uLnTx/>
                <a:uFillTx/>
                <a:latin typeface="Rotonda Medium"/>
                <a:ea typeface="+mn-ea"/>
                <a:cs typeface="+mn-cs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263277" y="5900238"/>
            <a:ext cx="3164643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71717"/>
                </a:solidFill>
                <a:effectLst/>
                <a:uLnTx/>
                <a:uFillTx/>
                <a:latin typeface="Rotonda Medium" panose="020F0602030203020204" pitchFamily="34" charset="0"/>
                <a:ea typeface="HK Grotesk Medium"/>
                <a:cs typeface="HK Grotesk Medium"/>
                <a:sym typeface="HK Grotesk Medium"/>
              </a:rPr>
              <a:t>Полина Осипенко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71717"/>
              </a:solidFill>
              <a:effectLst/>
              <a:uLnTx/>
              <a:uFillTx/>
              <a:latin typeface="Rotonda Medium" panose="020F0602030203020204" pitchFamily="34" charset="0"/>
              <a:ea typeface="HK Grotesk Medium"/>
              <a:cs typeface="HK Grotesk Medium"/>
              <a:sym typeface="HK Grotesk Medium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0E4A47F-9523-44E4-9B16-4E4FD6CE517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20" t="10520" r="10520" b="10520"/>
          <a:stretch/>
        </p:blipFill>
        <p:spPr>
          <a:xfrm>
            <a:off x="6857620" y="1451767"/>
            <a:ext cx="3954463" cy="3954463"/>
          </a:xfrm>
          <a:prstGeom prst="ellipse">
            <a:avLst/>
          </a:prstGeom>
        </p:spPr>
      </p:pic>
      <p:sp>
        <p:nvSpPr>
          <p:cNvPr id="15" name="Заголовок 2">
            <a:extLst>
              <a:ext uri="{FF2B5EF4-FFF2-40B4-BE49-F238E27FC236}">
                <a16:creationId xmlns:a16="http://schemas.microsoft.com/office/drawing/2014/main" id="{D877A44F-B7D1-4569-992D-74FB1258D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857" y="3254307"/>
            <a:ext cx="6017832" cy="806399"/>
          </a:xfrm>
        </p:spPr>
        <p:txBody>
          <a:bodyPr>
            <a:noAutofit/>
          </a:bodyPr>
          <a:lstStyle/>
          <a:p>
            <a:r>
              <a:rPr lang="ru-RU" sz="9600" dirty="0"/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20325995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1F1A525-99AA-643B-7990-94BF0D5D3ACB}"/>
              </a:ext>
            </a:extLst>
          </p:cNvPr>
          <p:cNvSpPr/>
          <p:nvPr/>
        </p:nvSpPr>
        <p:spPr>
          <a:xfrm>
            <a:off x="407988" y="324132"/>
            <a:ext cx="11473998" cy="620973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667601" y="1251001"/>
            <a:ext cx="4355999" cy="4355999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100C08"/>
              </a:solidFill>
              <a:effectLst/>
              <a:uLnTx/>
              <a:uFillTx/>
              <a:latin typeface="Rotonda Medium"/>
              <a:ea typeface="+mn-ea"/>
              <a:cs typeface="+mn-cs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7006689" y="5677690"/>
            <a:ext cx="3655582" cy="649016"/>
            <a:chOff x="0" y="0"/>
            <a:chExt cx="6230508" cy="11061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231778" cy="1106170"/>
            </a:xfrm>
            <a:custGeom>
              <a:avLst/>
              <a:gdLst/>
              <a:ahLst/>
              <a:cxnLst/>
              <a:rect l="l" t="t" r="r" b="b"/>
              <a:pathLst>
                <a:path w="6231778" h="1106170">
                  <a:moveTo>
                    <a:pt x="5678058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5678058" y="0"/>
                  </a:lnTo>
                  <a:cubicBezTo>
                    <a:pt x="5984128" y="0"/>
                    <a:pt x="6231778" y="247650"/>
                    <a:pt x="6231778" y="553720"/>
                  </a:cubicBezTo>
                  <a:cubicBezTo>
                    <a:pt x="6230508" y="858520"/>
                    <a:pt x="5982858" y="1106170"/>
                    <a:pt x="5678058" y="1106170"/>
                  </a:cubicBezTo>
                  <a:close/>
                </a:path>
              </a:pathLst>
            </a:custGeom>
            <a:solidFill>
              <a:schemeClr val="accent5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100C08"/>
                </a:solidFill>
                <a:effectLst/>
                <a:uLnTx/>
                <a:uFillTx/>
                <a:latin typeface="Rotonda Medium"/>
                <a:ea typeface="+mn-ea"/>
                <a:cs typeface="+mn-cs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263277" y="5900238"/>
            <a:ext cx="3164643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171717"/>
                </a:solidFill>
                <a:effectLst/>
                <a:uLnTx/>
                <a:uFillTx/>
                <a:latin typeface="Rotonda Medium" panose="020F0602030203020204" pitchFamily="34" charset="0"/>
                <a:ea typeface="HK Grotesk Medium"/>
                <a:cs typeface="HK Grotesk Medium"/>
                <a:sym typeface="HK Grotesk Medium"/>
              </a:rPr>
              <a:t>Лина Стригун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71717"/>
              </a:solidFill>
              <a:effectLst/>
              <a:uLnTx/>
              <a:uFillTx/>
              <a:latin typeface="Rotonda Medium" panose="020F0602030203020204" pitchFamily="34" charset="0"/>
              <a:ea typeface="HK Grotesk Medium"/>
              <a:cs typeface="HK Grotesk Medium"/>
              <a:sym typeface="HK Grotesk Medium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DCD7822-C290-F21D-9681-82BFD87BF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857" y="3254307"/>
            <a:ext cx="6017832" cy="806399"/>
          </a:xfrm>
        </p:spPr>
        <p:txBody>
          <a:bodyPr>
            <a:noAutofit/>
          </a:bodyPr>
          <a:lstStyle/>
          <a:p>
            <a:r>
              <a:rPr lang="ru-RU" sz="9600" dirty="0"/>
              <a:t>Спасибо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E350C47-8AD7-4168-8770-F12AD351CD8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2" t="672" r="194" b="792"/>
          <a:stretch/>
        </p:blipFill>
        <p:spPr>
          <a:xfrm>
            <a:off x="6857620" y="1451767"/>
            <a:ext cx="3954463" cy="3954463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792839463"/>
      </p:ext>
    </p:extLst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БК">
      <a:dk1>
        <a:srgbClr val="100C08"/>
      </a:dk1>
      <a:lt1>
        <a:srgbClr val="FFFFFF"/>
      </a:lt1>
      <a:dk2>
        <a:srgbClr val="3E3936"/>
      </a:dk2>
      <a:lt2>
        <a:srgbClr val="F2F2F5"/>
      </a:lt2>
      <a:accent1>
        <a:srgbClr val="D72300"/>
      </a:accent1>
      <a:accent2>
        <a:srgbClr val="FF8732"/>
      </a:accent2>
      <a:accent3>
        <a:srgbClr val="198737"/>
      </a:accent3>
      <a:accent4>
        <a:srgbClr val="502314"/>
      </a:accent4>
      <a:accent5>
        <a:srgbClr val="F5EBDC"/>
      </a:accent5>
      <a:accent6>
        <a:srgbClr val="FFAA00"/>
      </a:accent6>
      <a:hlink>
        <a:srgbClr val="649ADE"/>
      </a:hlink>
      <a:folHlink>
        <a:srgbClr val="571C0C"/>
      </a:folHlink>
    </a:clrScheme>
    <a:fontScheme name="для 4 квартал 2025">
      <a:majorFont>
        <a:latin typeface="Flame"/>
        <a:ea typeface=""/>
        <a:cs typeface=""/>
      </a:majorFont>
      <a:minorFont>
        <a:latin typeface="Rotonda Medium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4081</Words>
  <Application>Microsoft Office PowerPoint</Application>
  <PresentationFormat>Широкоэкранный</PresentationFormat>
  <Paragraphs>336</Paragraphs>
  <Slides>30</Slides>
  <Notes>29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6" baseType="lpstr">
      <vt:lpstr>Arial</vt:lpstr>
      <vt:lpstr>Calibri</vt:lpstr>
      <vt:lpstr>Flame</vt:lpstr>
      <vt:lpstr>Roboto</vt:lpstr>
      <vt:lpstr>Rotonda Medium</vt:lpstr>
      <vt:lpstr>1_Тема Office</vt:lpstr>
      <vt:lpstr>Спасибо</vt:lpstr>
      <vt:lpstr>Спасибо</vt:lpstr>
      <vt:lpstr>Спасибо</vt:lpstr>
      <vt:lpstr>Спасибо</vt:lpstr>
      <vt:lpstr>Спасибо</vt:lpstr>
      <vt:lpstr>Спасибо</vt:lpstr>
      <vt:lpstr>Спасибо</vt:lpstr>
      <vt:lpstr>Спасибо</vt:lpstr>
      <vt:lpstr>Спасибо</vt:lpstr>
      <vt:lpstr>Спасибо</vt:lpstr>
      <vt:lpstr>Спасибо</vt:lpstr>
      <vt:lpstr>Спасибо</vt:lpstr>
      <vt:lpstr>Спасибо</vt:lpstr>
      <vt:lpstr>Спасибо</vt:lpstr>
      <vt:lpstr>Спасибо</vt:lpstr>
      <vt:lpstr>Спасибо</vt:lpstr>
      <vt:lpstr>Спасибо</vt:lpstr>
      <vt:lpstr>Спасибо</vt:lpstr>
      <vt:lpstr>Спасибо</vt:lpstr>
      <vt:lpstr>Спасибо</vt:lpstr>
      <vt:lpstr>Спасибо</vt:lpstr>
      <vt:lpstr>Спасибо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</vt:lpstr>
      <vt:lpstr>Спасибо</vt:lpstr>
      <vt:lpstr>Спасибо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Спасибо</dc:title>
  <dc:creator>Сентюлёва Наталья Александровна</dc:creator>
  <cp:lastModifiedBy>Сентюлёва Наталья Александровна</cp:lastModifiedBy>
  <cp:revision>1</cp:revision>
  <dcterms:created xsi:type="dcterms:W3CDTF">2026-09-08T17:24:12Z</dcterms:created>
  <dcterms:modified xsi:type="dcterms:W3CDTF">2026-09-08T17:34:45Z</dcterms:modified>
</cp:coreProperties>
</file>